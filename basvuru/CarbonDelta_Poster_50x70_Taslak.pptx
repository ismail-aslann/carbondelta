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000000" cy="2520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000000" cy="4500000"/>
          </a:xfrm>
          <a:prstGeom prst="rect">
            <a:avLst/>
          </a:prstGeom>
          <a:solidFill>
            <a:srgbClr val="0B3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con.png"/>
          <p:cNvPicPr>
            <a:picLocks noChangeAspect="1"/>
          </p:cNvPicPr>
          <p:nvPr/>
        </p:nvPicPr>
        <p:blipFill>
          <a:blip r:embed="rId2"/>
          <a:stretch>
            <a:fillRect/>
          </a:stretch>
        </p:blipFill>
        <p:spPr>
          <a:xfrm>
            <a:off x="720000" y="792000"/>
            <a:ext cx="1800000" cy="1800000"/>
          </a:xfrm>
          <a:prstGeom prst="rect">
            <a:avLst/>
          </a:prstGeom>
        </p:spPr>
      </p:pic>
      <p:sp>
        <p:nvSpPr>
          <p:cNvPr id="4" name="TextBox 3"/>
          <p:cNvSpPr txBox="1"/>
          <p:nvPr/>
        </p:nvSpPr>
        <p:spPr>
          <a:xfrm>
            <a:off x="2951999" y="648000"/>
            <a:ext cx="14400000" cy="1080000"/>
          </a:xfrm>
          <a:prstGeom prst="rect">
            <a:avLst/>
          </a:prstGeom>
          <a:noFill/>
        </p:spPr>
        <p:txBody>
          <a:bodyPr wrap="square" anchor="t" lIns="0" rIns="0" tIns="0" bIns="0">
            <a:spAutoFit/>
          </a:bodyPr>
          <a:lstStyle/>
          <a:p>
            <a:pPr algn="l">
              <a:spcAft>
                <a:spcPts val="600"/>
              </a:spcAft>
            </a:pPr>
            <a:r>
              <a:rPr sz="9600" b="1" i="0">
                <a:solidFill>
                  <a:srgbClr val="FFFFFF"/>
                </a:solidFill>
                <a:latin typeface="Calibri"/>
              </a:rPr>
              <a:t>CarbonDelta</a:t>
            </a:r>
          </a:p>
        </p:txBody>
      </p:sp>
      <p:sp>
        <p:nvSpPr>
          <p:cNvPr id="5" name="TextBox 4"/>
          <p:cNvSpPr txBox="1"/>
          <p:nvPr/>
        </p:nvSpPr>
        <p:spPr>
          <a:xfrm>
            <a:off x="2951999" y="1872000"/>
            <a:ext cx="14400000" cy="1620000"/>
          </a:xfrm>
          <a:prstGeom prst="rect">
            <a:avLst/>
          </a:prstGeom>
          <a:noFill/>
        </p:spPr>
        <p:txBody>
          <a:bodyPr wrap="square" anchor="t" lIns="0" rIns="0" tIns="0" bIns="0">
            <a:spAutoFit/>
          </a:bodyPr>
          <a:lstStyle/>
          <a:p>
            <a:pPr algn="l">
              <a:spcAft>
                <a:spcPts val="600"/>
              </a:spcAft>
            </a:pPr>
            <a:r>
              <a:rPr sz="3600" b="0" i="0">
                <a:solidFill>
                  <a:srgbClr val="C9E6DC"/>
                </a:solidFill>
                <a:latin typeface="Calibri"/>
              </a:rPr>
              <a:t>Endüstriyel elektrik yüklerini daha düşük karbonlu saatlere kaydırmak için yapay zekâ destekli karar destek yazılımı</a:t>
            </a:r>
          </a:p>
        </p:txBody>
      </p:sp>
      <p:sp>
        <p:nvSpPr>
          <p:cNvPr id="6" name="TextBox 5"/>
          <p:cNvSpPr txBox="1"/>
          <p:nvPr/>
        </p:nvSpPr>
        <p:spPr>
          <a:xfrm>
            <a:off x="720000" y="3456000"/>
            <a:ext cx="16560000" cy="936000"/>
          </a:xfrm>
          <a:prstGeom prst="rect">
            <a:avLst/>
          </a:prstGeom>
          <a:noFill/>
        </p:spPr>
        <p:txBody>
          <a:bodyPr wrap="square" anchor="t" lIns="0" rIns="0" tIns="0" bIns="0">
            <a:spAutoFit/>
          </a:bodyPr>
          <a:lstStyle/>
          <a:p>
            <a:pPr algn="l">
              <a:spcAft>
                <a:spcPts val="200"/>
              </a:spcAft>
            </a:pPr>
            <a:r>
              <a:rPr sz="2600" b="0" i="0">
                <a:solidFill>
                  <a:srgbClr val="FFFFFF"/>
                </a:solidFill>
                <a:latin typeface="Calibri"/>
              </a:rPr>
              <a:t>[Sunumu yapacak kişi], İsmail Ali ASLAN, Emin Burak ÖZTÜRK · Danışman: Öğr. Gör. Ali ERFİDAN</a:t>
            </a:r>
          </a:p>
          <a:p>
            <a:pPr algn="l">
              <a:spcAft>
                <a:spcPts val="600"/>
              </a:spcAft>
            </a:pPr>
            <a:r>
              <a:rPr sz="2200" b="0" i="0">
                <a:solidFill>
                  <a:srgbClr val="5FE0B0"/>
                </a:solidFill>
                <a:latin typeface="Calibri"/>
              </a:rPr>
              <a:t>Balıkesir Üniversitesi · Tema: Yeşil Teknolojiler ve Döngüsel Ekonomi</a:t>
            </a:r>
          </a:p>
        </p:txBody>
      </p:sp>
      <p:sp>
        <p:nvSpPr>
          <p:cNvPr id="7" name="Rounded Rectangle 6"/>
          <p:cNvSpPr/>
          <p:nvPr/>
        </p:nvSpPr>
        <p:spPr>
          <a:xfrm>
            <a:off x="720000" y="4896000"/>
            <a:ext cx="3870000" cy="2304000"/>
          </a:xfrm>
          <a:prstGeom prst="roundRect">
            <a:avLst>
              <a:gd name="adj" fmla="val 8000"/>
            </a:avLst>
          </a:prstGeom>
          <a:solidFill>
            <a:srgbClr val="E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0000" y="5112000"/>
            <a:ext cx="3870000" cy="1080000"/>
          </a:xfrm>
          <a:prstGeom prst="rect">
            <a:avLst/>
          </a:prstGeom>
          <a:noFill/>
        </p:spPr>
        <p:txBody>
          <a:bodyPr wrap="square" anchor="t" lIns="0" rIns="0" tIns="0" bIns="0">
            <a:spAutoFit/>
          </a:bodyPr>
          <a:lstStyle/>
          <a:p>
            <a:pPr algn="ctr">
              <a:spcAft>
                <a:spcPts val="600"/>
              </a:spcAft>
            </a:pPr>
            <a:r>
              <a:rPr sz="6600" b="1" i="0">
                <a:solidFill>
                  <a:srgbClr val="16785C"/>
                </a:solidFill>
                <a:latin typeface="Calibri"/>
              </a:rPr>
              <a:t>%17,7</a:t>
            </a:r>
          </a:p>
        </p:txBody>
      </p:sp>
      <p:sp>
        <p:nvSpPr>
          <p:cNvPr id="9" name="TextBox 8"/>
          <p:cNvSpPr txBox="1"/>
          <p:nvPr/>
        </p:nvSpPr>
        <p:spPr>
          <a:xfrm>
            <a:off x="936000" y="6228000"/>
            <a:ext cx="3438000" cy="936000"/>
          </a:xfrm>
          <a:prstGeom prst="rect">
            <a:avLst/>
          </a:prstGeom>
          <a:noFill/>
        </p:spPr>
        <p:txBody>
          <a:bodyPr wrap="square" anchor="t" lIns="0" rIns="0" tIns="0" bIns="0">
            <a:spAutoFit/>
          </a:bodyPr>
          <a:lstStyle/>
          <a:p>
            <a:pPr algn="ctr">
              <a:spcAft>
                <a:spcPts val="600"/>
              </a:spcAft>
            </a:pPr>
            <a:r>
              <a:rPr sz="2200" b="0" i="0">
                <a:solidFill>
                  <a:srgbClr val="1D2733"/>
                </a:solidFill>
                <a:latin typeface="Calibri"/>
              </a:rPr>
              <a:t>en kirli ve en temiz saat
arasındaki karbon farkı (2025)</a:t>
            </a:r>
          </a:p>
        </p:txBody>
      </p:sp>
      <p:sp>
        <p:nvSpPr>
          <p:cNvPr id="10" name="Rounded Rectangle 9"/>
          <p:cNvSpPr/>
          <p:nvPr/>
        </p:nvSpPr>
        <p:spPr>
          <a:xfrm>
            <a:off x="4950000" y="4896000"/>
            <a:ext cx="3870000" cy="2304000"/>
          </a:xfrm>
          <a:prstGeom prst="roundRect">
            <a:avLst>
              <a:gd name="adj" fmla="val 8000"/>
            </a:avLst>
          </a:prstGeom>
          <a:solidFill>
            <a:srgbClr val="E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50000" y="5112000"/>
            <a:ext cx="3870000" cy="1080000"/>
          </a:xfrm>
          <a:prstGeom prst="rect">
            <a:avLst/>
          </a:prstGeom>
          <a:noFill/>
        </p:spPr>
        <p:txBody>
          <a:bodyPr wrap="square" anchor="t" lIns="0" rIns="0" tIns="0" bIns="0">
            <a:spAutoFit/>
          </a:bodyPr>
          <a:lstStyle/>
          <a:p>
            <a:pPr algn="ctr">
              <a:spcAft>
                <a:spcPts val="600"/>
              </a:spcAft>
            </a:pPr>
            <a:r>
              <a:rPr sz="6600" b="1" i="0">
                <a:solidFill>
                  <a:srgbClr val="16785C"/>
                </a:solidFill>
                <a:latin typeface="Calibri"/>
              </a:rPr>
              <a:t>−%15,62</a:t>
            </a:r>
          </a:p>
        </p:txBody>
      </p:sp>
      <p:sp>
        <p:nvSpPr>
          <p:cNvPr id="12" name="TextBox 11"/>
          <p:cNvSpPr txBox="1"/>
          <p:nvPr/>
        </p:nvSpPr>
        <p:spPr>
          <a:xfrm>
            <a:off x="5166000" y="6228000"/>
            <a:ext cx="3438000" cy="936000"/>
          </a:xfrm>
          <a:prstGeom prst="rect">
            <a:avLst/>
          </a:prstGeom>
          <a:noFill/>
        </p:spPr>
        <p:txBody>
          <a:bodyPr wrap="square" anchor="t" lIns="0" rIns="0" tIns="0" bIns="0">
            <a:spAutoFit/>
          </a:bodyPr>
          <a:lstStyle/>
          <a:p>
            <a:pPr algn="ctr">
              <a:spcAft>
                <a:spcPts val="600"/>
              </a:spcAft>
            </a:pPr>
            <a:r>
              <a:rPr sz="2200" b="0" i="0">
                <a:solidFill>
                  <a:srgbClr val="1D2733"/>
                </a:solidFill>
                <a:latin typeface="Calibri"/>
              </a:rPr>
              <a:t>örnek gün, kaydırılan
yükün emisyonu</a:t>
            </a:r>
          </a:p>
        </p:txBody>
      </p:sp>
      <p:sp>
        <p:nvSpPr>
          <p:cNvPr id="13" name="Rounded Rectangle 12"/>
          <p:cNvSpPr/>
          <p:nvPr/>
        </p:nvSpPr>
        <p:spPr>
          <a:xfrm>
            <a:off x="9180000" y="4896000"/>
            <a:ext cx="3870000" cy="2304000"/>
          </a:xfrm>
          <a:prstGeom prst="roundRect">
            <a:avLst>
              <a:gd name="adj" fmla="val 8000"/>
            </a:avLst>
          </a:prstGeom>
          <a:solidFill>
            <a:srgbClr val="E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80000" y="5112000"/>
            <a:ext cx="3870000" cy="1080000"/>
          </a:xfrm>
          <a:prstGeom prst="rect">
            <a:avLst/>
          </a:prstGeom>
          <a:noFill/>
        </p:spPr>
        <p:txBody>
          <a:bodyPr wrap="square" anchor="t" lIns="0" rIns="0" tIns="0" bIns="0">
            <a:spAutoFit/>
          </a:bodyPr>
          <a:lstStyle/>
          <a:p>
            <a:pPr algn="ctr">
              <a:spcAft>
                <a:spcPts val="600"/>
              </a:spcAft>
            </a:pPr>
            <a:r>
              <a:rPr sz="6600" b="1" i="0">
                <a:solidFill>
                  <a:srgbClr val="16785C"/>
                </a:solidFill>
                <a:latin typeface="Calibri"/>
              </a:rPr>
              <a:t>−%18,72</a:t>
            </a:r>
          </a:p>
        </p:txBody>
      </p:sp>
      <p:sp>
        <p:nvSpPr>
          <p:cNvPr id="15" name="TextBox 14"/>
          <p:cNvSpPr txBox="1"/>
          <p:nvPr/>
        </p:nvSpPr>
        <p:spPr>
          <a:xfrm>
            <a:off x="9396000" y="6228000"/>
            <a:ext cx="3438000" cy="936000"/>
          </a:xfrm>
          <a:prstGeom prst="rect">
            <a:avLst/>
          </a:prstGeom>
          <a:noFill/>
        </p:spPr>
        <p:txBody>
          <a:bodyPr wrap="square" anchor="t" lIns="0" rIns="0" tIns="0" bIns="0">
            <a:spAutoFit/>
          </a:bodyPr>
          <a:lstStyle/>
          <a:p>
            <a:pPr algn="ctr">
              <a:spcAft>
                <a:spcPts val="600"/>
              </a:spcAft>
            </a:pPr>
            <a:r>
              <a:rPr sz="2200" b="0" i="0">
                <a:solidFill>
                  <a:srgbClr val="1D2733"/>
                </a:solidFill>
                <a:latin typeface="Calibri"/>
              </a:rPr>
              <a:t>aynı kaydırma,
2025 yıl geneli</a:t>
            </a:r>
          </a:p>
        </p:txBody>
      </p:sp>
      <p:sp>
        <p:nvSpPr>
          <p:cNvPr id="16" name="Rounded Rectangle 15"/>
          <p:cNvSpPr/>
          <p:nvPr/>
        </p:nvSpPr>
        <p:spPr>
          <a:xfrm>
            <a:off x="13410000" y="4896000"/>
            <a:ext cx="3870000" cy="2304000"/>
          </a:xfrm>
          <a:prstGeom prst="roundRect">
            <a:avLst>
              <a:gd name="adj" fmla="val 8000"/>
            </a:avLst>
          </a:prstGeom>
          <a:solidFill>
            <a:srgbClr val="E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410000" y="5112000"/>
            <a:ext cx="3870000" cy="1080000"/>
          </a:xfrm>
          <a:prstGeom prst="rect">
            <a:avLst/>
          </a:prstGeom>
          <a:noFill/>
        </p:spPr>
        <p:txBody>
          <a:bodyPr wrap="square" anchor="t" lIns="0" rIns="0" tIns="0" bIns="0">
            <a:spAutoFit/>
          </a:bodyPr>
          <a:lstStyle/>
          <a:p>
            <a:pPr algn="ctr">
              <a:spcAft>
                <a:spcPts val="600"/>
              </a:spcAft>
            </a:pPr>
            <a:r>
              <a:rPr sz="6600" b="1" i="0">
                <a:solidFill>
                  <a:srgbClr val="16785C"/>
                </a:solidFill>
                <a:latin typeface="Calibri"/>
              </a:rPr>
              <a:t>≈86 kg</a:t>
            </a:r>
          </a:p>
        </p:txBody>
      </p:sp>
      <p:sp>
        <p:nvSpPr>
          <p:cNvPr id="18" name="TextBox 17"/>
          <p:cNvSpPr txBox="1"/>
          <p:nvPr/>
        </p:nvSpPr>
        <p:spPr>
          <a:xfrm>
            <a:off x="13626000" y="6228000"/>
            <a:ext cx="3438000" cy="936000"/>
          </a:xfrm>
          <a:prstGeom prst="rect">
            <a:avLst/>
          </a:prstGeom>
          <a:noFill/>
        </p:spPr>
        <p:txBody>
          <a:bodyPr wrap="square" anchor="t" lIns="0" rIns="0" tIns="0" bIns="0">
            <a:spAutoFit/>
          </a:bodyPr>
          <a:lstStyle/>
          <a:p>
            <a:pPr algn="ctr">
              <a:spcAft>
                <a:spcPts val="600"/>
              </a:spcAft>
            </a:pPr>
            <a:r>
              <a:rPr sz="2200" b="0" i="0">
                <a:solidFill>
                  <a:srgbClr val="1D2733"/>
                </a:solidFill>
                <a:latin typeface="Calibri"/>
              </a:rPr>
              <a:t>kaydırılan her 1 MWh
için daha az CO2</a:t>
            </a:r>
          </a:p>
        </p:txBody>
      </p:sp>
      <p:sp>
        <p:nvSpPr>
          <p:cNvPr id="19" name="TextBox 18"/>
          <p:cNvSpPr txBox="1"/>
          <p:nvPr/>
        </p:nvSpPr>
        <p:spPr>
          <a:xfrm>
            <a:off x="720000" y="7632000"/>
            <a:ext cx="8010000" cy="576000"/>
          </a:xfrm>
          <a:prstGeom prst="rect">
            <a:avLst/>
          </a:prstGeom>
          <a:noFill/>
        </p:spPr>
        <p:txBody>
          <a:bodyPr wrap="square" anchor="t" lIns="0" rIns="0" tIns="0" bIns="0">
            <a:spAutoFit/>
          </a:bodyPr>
          <a:lstStyle/>
          <a:p>
            <a:pPr algn="l">
              <a:spcAft>
                <a:spcPts val="600"/>
              </a:spcAft>
            </a:pPr>
            <a:r>
              <a:rPr sz="3400" b="1" i="0">
                <a:solidFill>
                  <a:srgbClr val="16785C"/>
                </a:solidFill>
                <a:latin typeface="Calibri"/>
              </a:rPr>
              <a:t>Problem</a:t>
            </a:r>
          </a:p>
        </p:txBody>
      </p:sp>
      <p:sp>
        <p:nvSpPr>
          <p:cNvPr id="20" name="TextBox 19"/>
          <p:cNvSpPr txBox="1"/>
          <p:nvPr/>
        </p:nvSpPr>
        <p:spPr>
          <a:xfrm>
            <a:off x="720000" y="8280000"/>
            <a:ext cx="8010000" cy="2520000"/>
          </a:xfrm>
          <a:prstGeom prst="rect">
            <a:avLst/>
          </a:prstGeom>
          <a:noFill/>
        </p:spPr>
        <p:txBody>
          <a:bodyPr wrap="square" anchor="t" lIns="0" rIns="0" tIns="0" bIns="0">
            <a:spAutoFit/>
          </a:bodyPr>
          <a:lstStyle/>
          <a:p>
            <a:pPr algn="l">
              <a:spcAft>
                <a:spcPts val="600"/>
              </a:spcAft>
            </a:pPr>
            <a:r>
              <a:rPr sz="2200" b="0" i="0">
                <a:solidFill>
                  <a:srgbClr val="1D2733"/>
                </a:solidFill>
                <a:latin typeface="Calibri"/>
              </a:rPr>
              <a:t>Şebekedeki üretim karışımı saat saat değişir; aynı 1 kWh elektrik tüketildiği saate göre farklı miktarda CO2 taşır. Fabrikalardaki kompresör, pres ve karıştırıcı gibi yükler birkaç saat kaydırılabilir, ancak bunun etkisini hızlı ve güvenilir hesaplayan bir araç yoktur. İklim Kanunu ile kurulan Türkiye ETS ve AB SKDM (CBAM), ürün başına emisyonu bir rekabet koşuluna dönüştürmektedir.</a:t>
            </a:r>
          </a:p>
        </p:txBody>
      </p:sp>
      <p:sp>
        <p:nvSpPr>
          <p:cNvPr id="21" name="TextBox 20"/>
          <p:cNvSpPr txBox="1"/>
          <p:nvPr/>
        </p:nvSpPr>
        <p:spPr>
          <a:xfrm>
            <a:off x="9270000" y="7632000"/>
            <a:ext cx="8010000" cy="576000"/>
          </a:xfrm>
          <a:prstGeom prst="rect">
            <a:avLst/>
          </a:prstGeom>
          <a:noFill/>
        </p:spPr>
        <p:txBody>
          <a:bodyPr wrap="square" anchor="t" lIns="0" rIns="0" tIns="0" bIns="0">
            <a:spAutoFit/>
          </a:bodyPr>
          <a:lstStyle/>
          <a:p>
            <a:pPr algn="l">
              <a:spcAft>
                <a:spcPts val="600"/>
              </a:spcAft>
            </a:pPr>
            <a:r>
              <a:rPr sz="3400" b="1" i="0">
                <a:solidFill>
                  <a:srgbClr val="16785C"/>
                </a:solidFill>
                <a:latin typeface="Calibri"/>
              </a:rPr>
              <a:t>Yöntem</a:t>
            </a:r>
          </a:p>
        </p:txBody>
      </p:sp>
      <p:sp>
        <p:nvSpPr>
          <p:cNvPr id="22" name="TextBox 21"/>
          <p:cNvSpPr txBox="1"/>
          <p:nvPr/>
        </p:nvSpPr>
        <p:spPr>
          <a:xfrm>
            <a:off x="9270000" y="8280000"/>
            <a:ext cx="8010000" cy="1224000"/>
          </a:xfrm>
          <a:prstGeom prst="rect">
            <a:avLst/>
          </a:prstGeom>
          <a:noFill/>
        </p:spPr>
        <p:txBody>
          <a:bodyPr wrap="square" anchor="t" lIns="0" rIns="0" tIns="0" bIns="0">
            <a:spAutoFit/>
          </a:bodyPr>
          <a:lstStyle/>
          <a:p>
            <a:pPr algn="l">
              <a:spcAft>
                <a:spcPts val="600"/>
              </a:spcAft>
            </a:pPr>
            <a:r>
              <a:rPr sz="2200" b="0" i="0">
                <a:solidFill>
                  <a:srgbClr val="1D2733"/>
                </a:solidFill>
                <a:latin typeface="Calibri"/>
              </a:rPr>
              <a:t>EPİAŞ 2025 saatlik üretimi × ETKB 2023 emisyon faktörleri → her saatin karbon yoğunluğu CI(h). Kaydırılan enerjinin standart (B) ve hedef (S) penceredeki emisyonu karşılaştırılır.</a:t>
            </a:r>
          </a:p>
        </p:txBody>
      </p:sp>
      <p:sp>
        <p:nvSpPr>
          <p:cNvPr id="23" name="Rounded Rectangle 22"/>
          <p:cNvSpPr/>
          <p:nvPr/>
        </p:nvSpPr>
        <p:spPr>
          <a:xfrm>
            <a:off x="9270000" y="9576000"/>
            <a:ext cx="8010000" cy="1440000"/>
          </a:xfrm>
          <a:prstGeom prst="roundRect">
            <a:avLst>
              <a:gd name="adj" fmla="val 8000"/>
            </a:avLst>
          </a:prstGeom>
          <a:solidFill>
            <a:srgbClr val="E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70000" y="9648000"/>
            <a:ext cx="8010000" cy="1296000"/>
          </a:xfrm>
          <a:prstGeom prst="rect">
            <a:avLst/>
          </a:prstGeom>
          <a:noFill/>
        </p:spPr>
        <p:txBody>
          <a:bodyPr wrap="square" anchor="ctr" lIns="0" rIns="0" tIns="0" bIns="0">
            <a:spAutoFit/>
          </a:bodyPr>
          <a:lstStyle/>
          <a:p>
            <a:pPr algn="ctr">
              <a:spcAft>
                <a:spcPts val="600"/>
              </a:spcAft>
            </a:pPr>
            <a:r>
              <a:rPr sz="2200" b="1" i="0">
                <a:solidFill>
                  <a:srgbClr val="1D2733"/>
                </a:solidFill>
                <a:latin typeface="Calibri"/>
              </a:rPr>
              <a:t>B = Σ p·kWh(s+i)·CI(s+i)    S = Σ p·kWh(s+i)·CI(t+i)</a:t>
            </a:r>
          </a:p>
          <a:p>
            <a:pPr algn="ctr">
              <a:spcAft>
                <a:spcPts val="600"/>
              </a:spcAft>
            </a:pPr>
            <a:r>
              <a:rPr sz="2400" b="1" i="0">
                <a:solidFill>
                  <a:srgbClr val="16785C"/>
                </a:solidFill>
                <a:latin typeface="Calibri"/>
              </a:rPr>
              <a:t>Değişim = (S − B) / B × 100</a:t>
            </a:r>
          </a:p>
        </p:txBody>
      </p:sp>
      <p:sp>
        <p:nvSpPr>
          <p:cNvPr id="25" name="TextBox 24"/>
          <p:cNvSpPr txBox="1"/>
          <p:nvPr/>
        </p:nvSpPr>
        <p:spPr>
          <a:xfrm>
            <a:off x="720000" y="11304000"/>
            <a:ext cx="16560000" cy="576000"/>
          </a:xfrm>
          <a:prstGeom prst="rect">
            <a:avLst/>
          </a:prstGeom>
          <a:noFill/>
        </p:spPr>
        <p:txBody>
          <a:bodyPr wrap="square" anchor="t" lIns="0" rIns="0" tIns="0" bIns="0">
            <a:spAutoFit/>
          </a:bodyPr>
          <a:lstStyle/>
          <a:p>
            <a:pPr algn="l">
              <a:spcAft>
                <a:spcPts val="600"/>
              </a:spcAft>
            </a:pPr>
            <a:r>
              <a:rPr sz="3400" b="1" i="0">
                <a:solidFill>
                  <a:srgbClr val="16785C"/>
                </a:solidFill>
                <a:latin typeface="Calibri"/>
              </a:rPr>
              <a:t>Bulgular</a:t>
            </a:r>
          </a:p>
        </p:txBody>
      </p:sp>
      <p:pic>
        <p:nvPicPr>
          <p:cNvPr id="26" name="Picture 25" descr="07_saatlik_profil.png"/>
          <p:cNvPicPr>
            <a:picLocks noChangeAspect="1"/>
          </p:cNvPicPr>
          <p:nvPr/>
        </p:nvPicPr>
        <p:blipFill>
          <a:blip r:embed="rId3"/>
          <a:stretch>
            <a:fillRect/>
          </a:stretch>
        </p:blipFill>
        <p:spPr>
          <a:xfrm>
            <a:off x="720000" y="11952000"/>
            <a:ext cx="5280000" cy="2376000"/>
          </a:xfrm>
          <a:prstGeom prst="rect">
            <a:avLst/>
          </a:prstGeom>
        </p:spPr>
      </p:pic>
      <p:pic>
        <p:nvPicPr>
          <p:cNvPr id="27" name="Picture 26" descr="08_aylik_etki.png"/>
          <p:cNvPicPr>
            <a:picLocks noChangeAspect="1"/>
          </p:cNvPicPr>
          <p:nvPr/>
        </p:nvPicPr>
        <p:blipFill>
          <a:blip r:embed="rId4"/>
          <a:stretch>
            <a:fillRect/>
          </a:stretch>
        </p:blipFill>
        <p:spPr>
          <a:xfrm>
            <a:off x="6360000" y="11952000"/>
            <a:ext cx="5280000" cy="2244000"/>
          </a:xfrm>
          <a:prstGeom prst="rect">
            <a:avLst/>
          </a:prstGeom>
        </p:spPr>
      </p:pic>
      <p:graphicFrame>
        <p:nvGraphicFramePr>
          <p:cNvPr id="28" name="Table 27"/>
          <p:cNvGraphicFramePr>
            <a:graphicFrameLocks noGrp="1"/>
          </p:cNvGraphicFramePr>
          <p:nvPr/>
        </p:nvGraphicFramePr>
        <p:xfrm>
          <a:off x="12000000" y="11952000"/>
          <a:ext cx="5277599" cy="2394000"/>
        </p:xfrm>
        <a:graphic>
          <a:graphicData uri="http://schemas.openxmlformats.org/drawingml/2006/table">
            <a:tbl>
              <a:tblPr firstRow="1" bandRow="1">
                <a:tableStyleId>{5C22544A-7EE6-4342-B048-85BDC9FD1C3A}</a:tableStyleId>
              </a:tblPr>
              <a:tblGrid>
                <a:gridCol w="2015999"/>
                <a:gridCol w="720000"/>
                <a:gridCol w="1296000"/>
                <a:gridCol w="1245600"/>
              </a:tblGrid>
              <a:tr h="342000">
                <a:tc>
                  <a:txBody>
                    <a:bodyPr/>
                    <a:lstStyle/>
                    <a:p>
                      <a:pPr algn="l"/>
                      <a:r>
                        <a:rPr sz="1500" b="1">
                          <a:solidFill>
                            <a:srgbClr val="FFFFFF"/>
                          </a:solidFill>
                          <a:latin typeface="Calibri"/>
                        </a:rPr>
                        <a:t>Makine</a:t>
                      </a:r>
                    </a:p>
                  </a:txBody>
                  <a:tcPr marL="72000" marR="72000">
                    <a:solidFill>
                      <a:srgbClr val="16785C"/>
                    </a:solidFill>
                  </a:tcPr>
                </a:tc>
                <a:tc>
                  <a:txBody>
                    <a:bodyPr/>
                    <a:lstStyle/>
                    <a:p>
                      <a:pPr algn="ctr"/>
                      <a:r>
                        <a:rPr sz="1500" b="1">
                          <a:solidFill>
                            <a:srgbClr val="FFFFFF"/>
                          </a:solidFill>
                          <a:latin typeface="Calibri"/>
                        </a:rPr>
                        <a:t>Gün</a:t>
                      </a:r>
                    </a:p>
                  </a:txBody>
                  <a:tcPr marL="72000" marR="72000">
                    <a:solidFill>
                      <a:srgbClr val="16785C"/>
                    </a:solidFill>
                  </a:tcPr>
                </a:tc>
                <a:tc>
                  <a:txBody>
                    <a:bodyPr/>
                    <a:lstStyle/>
                    <a:p>
                      <a:pPr algn="ctr"/>
                      <a:r>
                        <a:rPr sz="1500" b="1">
                          <a:solidFill>
                            <a:srgbClr val="FFFFFF"/>
                          </a:solidFill>
                          <a:latin typeface="Calibri"/>
                        </a:rPr>
                        <a:t>Değişim</a:t>
                      </a:r>
                    </a:p>
                  </a:txBody>
                  <a:tcPr marL="72000" marR="72000">
                    <a:solidFill>
                      <a:srgbClr val="16785C"/>
                    </a:solidFill>
                  </a:tcPr>
                </a:tc>
                <a:tc>
                  <a:txBody>
                    <a:bodyPr/>
                    <a:lstStyle/>
                    <a:p>
                      <a:pPr algn="ctr"/>
                      <a:r>
                        <a:rPr sz="1500" b="1">
                          <a:solidFill>
                            <a:srgbClr val="FFFFFF"/>
                          </a:solidFill>
                          <a:latin typeface="Calibri"/>
                        </a:rPr>
                        <a:t>Yükte</a:t>
                      </a:r>
                    </a:p>
                  </a:txBody>
                  <a:tcPr marL="72000" marR="72000">
                    <a:solidFill>
                      <a:srgbClr val="16785C"/>
                    </a:solidFill>
                  </a:tcPr>
                </a:tc>
              </a:tr>
              <a:tr h="342000">
                <a:tc>
                  <a:txBody>
                    <a:bodyPr/>
                    <a:lstStyle/>
                    <a:p>
                      <a:pPr algn="l"/>
                      <a:r>
                        <a:rPr sz="1500" b="0">
                          <a:solidFill>
                            <a:srgbClr val="1D2733"/>
                          </a:solidFill>
                          <a:latin typeface="Calibri"/>
                        </a:rPr>
                        <a:t>Kompresör</a:t>
                      </a:r>
                    </a:p>
                  </a:txBody>
                  <a:tcPr marL="72000" marR="72000">
                    <a:solidFill>
                      <a:srgbClr val="FFFFFF"/>
                    </a:solidFill>
                  </a:tcPr>
                </a:tc>
                <a:tc>
                  <a:txBody>
                    <a:bodyPr/>
                    <a:lstStyle/>
                    <a:p>
                      <a:pPr algn="ctr"/>
                      <a:r>
                        <a:rPr sz="1500" b="0">
                          <a:solidFill>
                            <a:srgbClr val="1D2733"/>
                          </a:solidFill>
                          <a:latin typeface="Calibri"/>
                        </a:rPr>
                        <a:t>206</a:t>
                      </a:r>
                    </a:p>
                  </a:txBody>
                  <a:tcPr marL="72000" marR="72000">
                    <a:solidFill>
                      <a:srgbClr val="FFFFFF"/>
                    </a:solidFill>
                  </a:tcPr>
                </a:tc>
                <a:tc>
                  <a:txBody>
                    <a:bodyPr/>
                    <a:lstStyle/>
                    <a:p>
                      <a:pPr algn="ctr"/>
                      <a:r>
                        <a:rPr sz="1500" b="0">
                          <a:solidFill>
                            <a:srgbClr val="1D2733"/>
                          </a:solidFill>
                          <a:latin typeface="Calibri"/>
                        </a:rPr>
                        <a:t>−796 kg</a:t>
                      </a:r>
                    </a:p>
                  </a:txBody>
                  <a:tcPr marL="72000" marR="72000">
                    <a:solidFill>
                      <a:srgbClr val="FFFFFF"/>
                    </a:solidFill>
                  </a:tcPr>
                </a:tc>
                <a:tc>
                  <a:txBody>
                    <a:bodyPr/>
                    <a:lstStyle/>
                    <a:p>
                      <a:pPr algn="ctr"/>
                      <a:r>
                        <a:rPr sz="1500" b="0">
                          <a:solidFill>
                            <a:srgbClr val="1D2733"/>
                          </a:solidFill>
                          <a:latin typeface="Calibri"/>
                        </a:rPr>
                        <a:t>−%18,7</a:t>
                      </a:r>
                    </a:p>
                  </a:txBody>
                  <a:tcPr marL="72000" marR="72000">
                    <a:solidFill>
                      <a:srgbClr val="FFFFFF"/>
                    </a:solidFill>
                  </a:tcPr>
                </a:tc>
              </a:tr>
              <a:tr h="342000">
                <a:tc>
                  <a:txBody>
                    <a:bodyPr/>
                    <a:lstStyle/>
                    <a:p>
                      <a:pPr algn="l"/>
                      <a:r>
                        <a:rPr sz="1500" b="0">
                          <a:solidFill>
                            <a:srgbClr val="1D2733"/>
                          </a:solidFill>
                          <a:latin typeface="Calibri"/>
                        </a:rPr>
                        <a:t>Otomasyon ve taşıma</a:t>
                      </a:r>
                    </a:p>
                  </a:txBody>
                  <a:tcPr marL="72000" marR="72000">
                    <a:solidFill>
                      <a:srgbClr val="E7F3EF"/>
                    </a:solidFill>
                  </a:tcPr>
                </a:tc>
                <a:tc>
                  <a:txBody>
                    <a:bodyPr/>
                    <a:lstStyle/>
                    <a:p>
                      <a:pPr algn="ctr"/>
                      <a:r>
                        <a:rPr sz="1500" b="0">
                          <a:solidFill>
                            <a:srgbClr val="1D2733"/>
                          </a:solidFill>
                          <a:latin typeface="Calibri"/>
                        </a:rPr>
                        <a:t>340</a:t>
                      </a:r>
                    </a:p>
                  </a:txBody>
                  <a:tcPr marL="72000" marR="72000">
                    <a:solidFill>
                      <a:srgbClr val="E7F3EF"/>
                    </a:solidFill>
                  </a:tcPr>
                </a:tc>
                <a:tc>
                  <a:txBody>
                    <a:bodyPr/>
                    <a:lstStyle/>
                    <a:p>
                      <a:pPr algn="ctr"/>
                      <a:r>
                        <a:rPr sz="1500" b="0">
                          <a:solidFill>
                            <a:srgbClr val="1D2733"/>
                          </a:solidFill>
                          <a:latin typeface="Calibri"/>
                        </a:rPr>
                        <a:t>−43 kg</a:t>
                      </a:r>
                    </a:p>
                  </a:txBody>
                  <a:tcPr marL="72000" marR="72000">
                    <a:solidFill>
                      <a:srgbClr val="E7F3EF"/>
                    </a:solidFill>
                  </a:tcPr>
                </a:tc>
                <a:tc>
                  <a:txBody>
                    <a:bodyPr/>
                    <a:lstStyle/>
                    <a:p>
                      <a:pPr algn="ctr"/>
                      <a:r>
                        <a:rPr sz="1500" b="0">
                          <a:solidFill>
                            <a:srgbClr val="1D2733"/>
                          </a:solidFill>
                          <a:latin typeface="Calibri"/>
                        </a:rPr>
                        <a:t>−%17,5</a:t>
                      </a:r>
                    </a:p>
                  </a:txBody>
                  <a:tcPr marL="72000" marR="72000">
                    <a:solidFill>
                      <a:srgbClr val="E7F3EF"/>
                    </a:solidFill>
                  </a:tcPr>
                </a:tc>
              </a:tr>
              <a:tr h="342000">
                <a:tc>
                  <a:txBody>
                    <a:bodyPr/>
                    <a:lstStyle/>
                    <a:p>
                      <a:pPr algn="l"/>
                      <a:r>
                        <a:rPr sz="1500" b="0">
                          <a:solidFill>
                            <a:srgbClr val="1D2733"/>
                          </a:solidFill>
                          <a:latin typeface="Calibri"/>
                        </a:rPr>
                        <a:t>Karıştırıcı</a:t>
                      </a:r>
                    </a:p>
                  </a:txBody>
                  <a:tcPr marL="72000" marR="72000">
                    <a:solidFill>
                      <a:srgbClr val="FFFFFF"/>
                    </a:solidFill>
                  </a:tcPr>
                </a:tc>
                <a:tc>
                  <a:txBody>
                    <a:bodyPr/>
                    <a:lstStyle/>
                    <a:p>
                      <a:pPr algn="ctr"/>
                      <a:r>
                        <a:rPr sz="1500" b="0">
                          <a:solidFill>
                            <a:srgbClr val="1D2733"/>
                          </a:solidFill>
                          <a:latin typeface="Calibri"/>
                        </a:rPr>
                        <a:t>24</a:t>
                      </a:r>
                    </a:p>
                  </a:txBody>
                  <a:tcPr marL="72000" marR="72000">
                    <a:solidFill>
                      <a:srgbClr val="FFFFFF"/>
                    </a:solidFill>
                  </a:tcPr>
                </a:tc>
                <a:tc>
                  <a:txBody>
                    <a:bodyPr/>
                    <a:lstStyle/>
                    <a:p>
                      <a:pPr algn="ctr"/>
                      <a:r>
                        <a:rPr sz="1500" b="0">
                          <a:solidFill>
                            <a:srgbClr val="1D2733"/>
                          </a:solidFill>
                          <a:latin typeface="Calibri"/>
                        </a:rPr>
                        <a:t>−31 kg</a:t>
                      </a:r>
                    </a:p>
                  </a:txBody>
                  <a:tcPr marL="72000" marR="72000">
                    <a:solidFill>
                      <a:srgbClr val="FFFFFF"/>
                    </a:solidFill>
                  </a:tcPr>
                </a:tc>
                <a:tc>
                  <a:txBody>
                    <a:bodyPr/>
                    <a:lstStyle/>
                    <a:p>
                      <a:pPr algn="ctr"/>
                      <a:r>
                        <a:rPr sz="1500" b="0">
                          <a:solidFill>
                            <a:srgbClr val="1D2733"/>
                          </a:solidFill>
                          <a:latin typeface="Calibri"/>
                        </a:rPr>
                        <a:t>−%16,0</a:t>
                      </a:r>
                    </a:p>
                  </a:txBody>
                  <a:tcPr marL="72000" marR="72000">
                    <a:solidFill>
                      <a:srgbClr val="FFFFFF"/>
                    </a:solidFill>
                  </a:tcPr>
                </a:tc>
              </a:tr>
              <a:tr h="342000">
                <a:tc>
                  <a:txBody>
                    <a:bodyPr/>
                    <a:lstStyle/>
                    <a:p>
                      <a:pPr algn="l"/>
                      <a:r>
                        <a:rPr sz="1500" b="0">
                          <a:solidFill>
                            <a:srgbClr val="1D2733"/>
                          </a:solidFill>
                          <a:latin typeface="Calibri"/>
                        </a:rPr>
                        <a:t>Ana pres</a:t>
                      </a:r>
                    </a:p>
                  </a:txBody>
                  <a:tcPr marL="72000" marR="72000">
                    <a:solidFill>
                      <a:srgbClr val="E7F3EF"/>
                    </a:solidFill>
                  </a:tcPr>
                </a:tc>
                <a:tc>
                  <a:txBody>
                    <a:bodyPr/>
                    <a:lstStyle/>
                    <a:p>
                      <a:pPr algn="ctr"/>
                      <a:r>
                        <a:rPr sz="1500" b="0">
                          <a:solidFill>
                            <a:srgbClr val="1D2733"/>
                          </a:solidFill>
                          <a:latin typeface="Calibri"/>
                        </a:rPr>
                        <a:t>267</a:t>
                      </a:r>
                    </a:p>
                  </a:txBody>
                  <a:tcPr marL="72000" marR="72000">
                    <a:solidFill>
                      <a:srgbClr val="E7F3EF"/>
                    </a:solidFill>
                  </a:tcPr>
                </a:tc>
                <a:tc>
                  <a:txBody>
                    <a:bodyPr/>
                    <a:lstStyle/>
                    <a:p>
                      <a:pPr algn="ctr"/>
                      <a:r>
                        <a:rPr sz="1500" b="0">
                          <a:solidFill>
                            <a:srgbClr val="1D2733"/>
                          </a:solidFill>
                          <a:latin typeface="Calibri"/>
                        </a:rPr>
                        <a:t>−496 kg</a:t>
                      </a:r>
                    </a:p>
                  </a:txBody>
                  <a:tcPr marL="72000" marR="72000">
                    <a:solidFill>
                      <a:srgbClr val="E7F3EF"/>
                    </a:solidFill>
                  </a:tcPr>
                </a:tc>
                <a:tc>
                  <a:txBody>
                    <a:bodyPr/>
                    <a:lstStyle/>
                    <a:p>
                      <a:pPr algn="ctr"/>
                      <a:r>
                        <a:rPr sz="1500" b="0">
                          <a:solidFill>
                            <a:srgbClr val="1D2733"/>
                          </a:solidFill>
                          <a:latin typeface="Calibri"/>
                        </a:rPr>
                        <a:t>−%17,2</a:t>
                      </a:r>
                    </a:p>
                  </a:txBody>
                  <a:tcPr marL="72000" marR="72000">
                    <a:solidFill>
                      <a:srgbClr val="E7F3EF"/>
                    </a:solidFill>
                  </a:tcPr>
                </a:tc>
              </a:tr>
              <a:tr h="342000">
                <a:tc>
                  <a:txBody>
                    <a:bodyPr/>
                    <a:lstStyle/>
                    <a:p>
                      <a:pPr algn="l"/>
                      <a:r>
                        <a:rPr sz="1500" b="0">
                          <a:solidFill>
                            <a:srgbClr val="1D2733"/>
                          </a:solidFill>
                          <a:latin typeface="Calibri"/>
                        </a:rPr>
                        <a:t>Yardımcı tesis</a:t>
                      </a:r>
                    </a:p>
                  </a:txBody>
                  <a:tcPr marL="72000" marR="72000">
                    <a:solidFill>
                      <a:srgbClr val="FFFFFF"/>
                    </a:solidFill>
                  </a:tcPr>
                </a:tc>
                <a:tc>
                  <a:txBody>
                    <a:bodyPr/>
                    <a:lstStyle/>
                    <a:p>
                      <a:pPr algn="ctr"/>
                      <a:r>
                        <a:rPr sz="1500" b="0">
                          <a:solidFill>
                            <a:srgbClr val="1D2733"/>
                          </a:solidFill>
                          <a:latin typeface="Calibri"/>
                        </a:rPr>
                        <a:t>323</a:t>
                      </a:r>
                    </a:p>
                  </a:txBody>
                  <a:tcPr marL="72000" marR="72000">
                    <a:solidFill>
                      <a:srgbClr val="FFFFFF"/>
                    </a:solidFill>
                  </a:tcPr>
                </a:tc>
                <a:tc>
                  <a:txBody>
                    <a:bodyPr/>
                    <a:lstStyle/>
                    <a:p>
                      <a:pPr algn="ctr"/>
                      <a:r>
                        <a:rPr sz="1500" b="0">
                          <a:solidFill>
                            <a:srgbClr val="1D2733"/>
                          </a:solidFill>
                          <a:latin typeface="Calibri"/>
                        </a:rPr>
                        <a:t>−205 kg</a:t>
                      </a:r>
                    </a:p>
                  </a:txBody>
                  <a:tcPr marL="72000" marR="72000">
                    <a:solidFill>
                      <a:srgbClr val="FFFFFF"/>
                    </a:solidFill>
                  </a:tcPr>
                </a:tc>
                <a:tc>
                  <a:txBody>
                    <a:bodyPr/>
                    <a:lstStyle/>
                    <a:p>
                      <a:pPr algn="ctr"/>
                      <a:r>
                        <a:rPr sz="1500" b="0">
                          <a:solidFill>
                            <a:srgbClr val="1D2733"/>
                          </a:solidFill>
                          <a:latin typeface="Calibri"/>
                        </a:rPr>
                        <a:t>−%17,8</a:t>
                      </a:r>
                    </a:p>
                  </a:txBody>
                  <a:tcPr marL="72000" marR="72000">
                    <a:solidFill>
                      <a:srgbClr val="FFFFFF"/>
                    </a:solidFill>
                  </a:tcPr>
                </a:tc>
              </a:tr>
              <a:tr h="342000">
                <a:tc>
                  <a:txBody>
                    <a:bodyPr/>
                    <a:lstStyle/>
                    <a:p>
                      <a:pPr algn="l"/>
                      <a:r>
                        <a:rPr sz="1500" b="1">
                          <a:solidFill>
                            <a:srgbClr val="1D2733"/>
                          </a:solidFill>
                          <a:latin typeface="Calibri"/>
                        </a:rPr>
                        <a:t>Toplam</a:t>
                      </a:r>
                    </a:p>
                  </a:txBody>
                  <a:tcPr marL="72000" marR="72000">
                    <a:solidFill>
                      <a:srgbClr val="E7F3EF"/>
                    </a:solidFill>
                  </a:tcPr>
                </a:tc>
                <a:tc>
                  <a:txBody>
                    <a:bodyPr/>
                    <a:lstStyle/>
                    <a:p>
                      <a:pPr algn="ctr"/>
                      <a:r>
                        <a:rPr sz="1500" b="1">
                          <a:solidFill>
                            <a:srgbClr val="1D2733"/>
                          </a:solidFill>
                          <a:latin typeface="Calibri"/>
                        </a:rPr>
                        <a:t/>
                      </a:r>
                    </a:p>
                  </a:txBody>
                  <a:tcPr marL="72000" marR="72000">
                    <a:solidFill>
                      <a:srgbClr val="E7F3EF"/>
                    </a:solidFill>
                  </a:tcPr>
                </a:tc>
                <a:tc>
                  <a:txBody>
                    <a:bodyPr/>
                    <a:lstStyle/>
                    <a:p>
                      <a:pPr algn="ctr"/>
                      <a:r>
                        <a:rPr sz="1500" b="1">
                          <a:solidFill>
                            <a:srgbClr val="1D2733"/>
                          </a:solidFill>
                          <a:latin typeface="Calibri"/>
                        </a:rPr>
                        <a:t>−1.570 kg</a:t>
                      </a:r>
                    </a:p>
                  </a:txBody>
                  <a:tcPr marL="72000" marR="72000">
                    <a:solidFill>
                      <a:srgbClr val="E7F3EF"/>
                    </a:solidFill>
                  </a:tcPr>
                </a:tc>
                <a:tc>
                  <a:txBody>
                    <a:bodyPr/>
                    <a:lstStyle/>
                    <a:p>
                      <a:pPr algn="ctr"/>
                      <a:r>
                        <a:rPr sz="1500" b="1">
                          <a:solidFill>
                            <a:srgbClr val="1D2733"/>
                          </a:solidFill>
                          <a:latin typeface="Calibri"/>
                        </a:rPr>
                        <a:t>−%18,0</a:t>
                      </a:r>
                    </a:p>
                  </a:txBody>
                  <a:tcPr marL="72000" marR="72000">
                    <a:solidFill>
                      <a:srgbClr val="E7F3EF"/>
                    </a:solidFill>
                  </a:tcPr>
                </a:tc>
              </a:tr>
            </a:tbl>
          </a:graphicData>
        </a:graphic>
      </p:graphicFrame>
      <p:sp>
        <p:nvSpPr>
          <p:cNvPr id="29" name="TextBox 28"/>
          <p:cNvSpPr txBox="1"/>
          <p:nvPr/>
        </p:nvSpPr>
        <p:spPr>
          <a:xfrm>
            <a:off x="720000" y="14544000"/>
            <a:ext cx="16560000" cy="360000"/>
          </a:xfrm>
          <a:prstGeom prst="rect">
            <a:avLst/>
          </a:prstGeom>
          <a:noFill/>
        </p:spPr>
        <p:txBody>
          <a:bodyPr wrap="square" anchor="t" lIns="0" rIns="0" tIns="0" bIns="0">
            <a:spAutoFit/>
          </a:bodyPr>
          <a:lstStyle/>
          <a:p>
            <a:pPr algn="l">
              <a:spcAft>
                <a:spcPts val="600"/>
              </a:spcAft>
            </a:pPr>
            <a:r>
              <a:rPr sz="1800" b="0" i="0">
                <a:solidFill>
                  <a:srgbClr val="5B6776"/>
                </a:solidFill>
                <a:latin typeface="Calibri"/>
              </a:rPr>
              <a:t>Örnek yükler (açık veri seti), 03:00–06:00 → 18:00–21:00, 2025 · Balıkesir tesisi değildir.</a:t>
            </a:r>
          </a:p>
        </p:txBody>
      </p:sp>
      <p:sp>
        <p:nvSpPr>
          <p:cNvPr id="30" name="TextBox 29"/>
          <p:cNvSpPr txBox="1"/>
          <p:nvPr/>
        </p:nvSpPr>
        <p:spPr>
          <a:xfrm>
            <a:off x="720000" y="15047999"/>
            <a:ext cx="16560000" cy="576000"/>
          </a:xfrm>
          <a:prstGeom prst="rect">
            <a:avLst/>
          </a:prstGeom>
          <a:noFill/>
        </p:spPr>
        <p:txBody>
          <a:bodyPr wrap="square" anchor="t" lIns="0" rIns="0" tIns="0" bIns="0">
            <a:spAutoFit/>
          </a:bodyPr>
          <a:lstStyle/>
          <a:p>
            <a:pPr algn="l">
              <a:spcAft>
                <a:spcPts val="600"/>
              </a:spcAft>
            </a:pPr>
            <a:r>
              <a:rPr sz="3400" b="1" i="0">
                <a:solidFill>
                  <a:srgbClr val="16785C"/>
                </a:solidFill>
                <a:latin typeface="Calibri"/>
              </a:rPr>
              <a:t>Uygulama</a:t>
            </a:r>
          </a:p>
        </p:txBody>
      </p:sp>
      <p:pic>
        <p:nvPicPr>
          <p:cNvPr id="31" name="Picture 30" descr="02_senaryo.png"/>
          <p:cNvPicPr>
            <a:picLocks noChangeAspect="1"/>
          </p:cNvPicPr>
          <p:nvPr/>
        </p:nvPicPr>
        <p:blipFill>
          <a:blip r:embed="rId5"/>
          <a:stretch>
            <a:fillRect/>
          </a:stretch>
        </p:blipFill>
        <p:spPr>
          <a:xfrm>
            <a:off x="720000" y="15696000"/>
            <a:ext cx="8010000" cy="4806000"/>
          </a:xfrm>
          <a:prstGeom prst="rect">
            <a:avLst/>
          </a:prstGeom>
        </p:spPr>
      </p:pic>
      <p:pic>
        <p:nvPicPr>
          <p:cNvPr id="32" name="Picture 31" descr="04_yillik_etki.png"/>
          <p:cNvPicPr>
            <a:picLocks noChangeAspect="1"/>
          </p:cNvPicPr>
          <p:nvPr/>
        </p:nvPicPr>
        <p:blipFill>
          <a:blip r:embed="rId6"/>
          <a:stretch>
            <a:fillRect/>
          </a:stretch>
        </p:blipFill>
        <p:spPr>
          <a:xfrm>
            <a:off x="9270000" y="15696000"/>
            <a:ext cx="8010000" cy="4392178"/>
          </a:xfrm>
          <a:prstGeom prst="rect">
            <a:avLst/>
          </a:prstGeom>
        </p:spPr>
      </p:pic>
      <p:sp>
        <p:nvSpPr>
          <p:cNvPr id="33" name="Rounded Rectangle 32"/>
          <p:cNvSpPr/>
          <p:nvPr/>
        </p:nvSpPr>
        <p:spPr>
          <a:xfrm>
            <a:off x="720000" y="20934000"/>
            <a:ext cx="5280000" cy="3024000"/>
          </a:xfrm>
          <a:prstGeom prst="roundRect">
            <a:avLst>
              <a:gd name="adj" fmla="val 8000"/>
            </a:avLst>
          </a:prstGeom>
          <a:solidFill>
            <a:srgbClr val="E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8000" y="21150000"/>
            <a:ext cx="4704000" cy="540000"/>
          </a:xfrm>
          <a:prstGeom prst="rect">
            <a:avLst/>
          </a:prstGeom>
          <a:noFill/>
        </p:spPr>
        <p:txBody>
          <a:bodyPr wrap="square" anchor="t" lIns="0" rIns="0" tIns="0" bIns="0">
            <a:spAutoFit/>
          </a:bodyPr>
          <a:lstStyle/>
          <a:p>
            <a:pPr algn="l">
              <a:spcAft>
                <a:spcPts val="600"/>
              </a:spcAft>
            </a:pPr>
            <a:r>
              <a:rPr sz="2800" b="1" i="0">
                <a:solidFill>
                  <a:srgbClr val="16785C"/>
                </a:solidFill>
                <a:latin typeface="Calibri"/>
              </a:rPr>
              <a:t>Yenilik</a:t>
            </a:r>
          </a:p>
        </p:txBody>
      </p:sp>
      <p:sp>
        <p:nvSpPr>
          <p:cNvPr id="35" name="TextBox 34"/>
          <p:cNvSpPr txBox="1"/>
          <p:nvPr/>
        </p:nvSpPr>
        <p:spPr>
          <a:xfrm>
            <a:off x="1008000" y="21761999"/>
            <a:ext cx="4704000" cy="2088000"/>
          </a:xfrm>
          <a:prstGeom prst="rect">
            <a:avLst/>
          </a:prstGeom>
          <a:noFill/>
        </p:spPr>
        <p:txBody>
          <a:bodyPr wrap="square" anchor="t" lIns="0" rIns="0" tIns="0" bIns="0">
            <a:spAutoFit/>
          </a:bodyPr>
          <a:lstStyle/>
          <a:p>
            <a:pPr algn="l">
              <a:spcAft>
                <a:spcPts val="600"/>
              </a:spcAft>
            </a:pPr>
            <a:r>
              <a:rPr sz="2000" b="0" i="0">
                <a:solidFill>
                  <a:srgbClr val="1D2733"/>
                </a:solidFill>
                <a:latin typeface="Calibri"/>
              </a:rPr>
              <a:t>Saatlik ve makine bazlı hesap · sayıları otomatik doğrulanan yapay zekâ (Delti) · internetsiz çalışma · kullanıcının kendi verisini eklemesi</a:t>
            </a:r>
          </a:p>
        </p:txBody>
      </p:sp>
      <p:sp>
        <p:nvSpPr>
          <p:cNvPr id="36" name="Rounded Rectangle 35"/>
          <p:cNvSpPr/>
          <p:nvPr/>
        </p:nvSpPr>
        <p:spPr>
          <a:xfrm>
            <a:off x="6360000" y="20934000"/>
            <a:ext cx="5280000" cy="3024000"/>
          </a:xfrm>
          <a:prstGeom prst="roundRect">
            <a:avLst>
              <a:gd name="adj" fmla="val 8000"/>
            </a:avLst>
          </a:prstGeom>
          <a:solidFill>
            <a:srgbClr val="E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48000" y="21150000"/>
            <a:ext cx="4704000" cy="540000"/>
          </a:xfrm>
          <a:prstGeom prst="rect">
            <a:avLst/>
          </a:prstGeom>
          <a:noFill/>
        </p:spPr>
        <p:txBody>
          <a:bodyPr wrap="square" anchor="t" lIns="0" rIns="0" tIns="0" bIns="0">
            <a:spAutoFit/>
          </a:bodyPr>
          <a:lstStyle/>
          <a:p>
            <a:pPr algn="l">
              <a:spcAft>
                <a:spcPts val="600"/>
              </a:spcAft>
            </a:pPr>
            <a:r>
              <a:rPr sz="2800" b="1" i="0">
                <a:solidFill>
                  <a:srgbClr val="16785C"/>
                </a:solidFill>
                <a:latin typeface="Calibri"/>
              </a:rPr>
              <a:t>Ticarileşme</a:t>
            </a:r>
          </a:p>
        </p:txBody>
      </p:sp>
      <p:sp>
        <p:nvSpPr>
          <p:cNvPr id="38" name="TextBox 37"/>
          <p:cNvSpPr txBox="1"/>
          <p:nvPr/>
        </p:nvSpPr>
        <p:spPr>
          <a:xfrm>
            <a:off x="6648000" y="21761999"/>
            <a:ext cx="4704000" cy="2088000"/>
          </a:xfrm>
          <a:prstGeom prst="rect">
            <a:avLst/>
          </a:prstGeom>
          <a:noFill/>
        </p:spPr>
        <p:txBody>
          <a:bodyPr wrap="square" anchor="t" lIns="0" rIns="0" tIns="0" bIns="0">
            <a:spAutoFit/>
          </a:bodyPr>
          <a:lstStyle/>
          <a:p>
            <a:pPr algn="l">
              <a:spcAft>
                <a:spcPts val="600"/>
              </a:spcAft>
            </a:pPr>
            <a:r>
              <a:rPr sz="2000" b="0" i="0">
                <a:solidFill>
                  <a:srgbClr val="1D2733"/>
                </a:solidFill>
                <a:latin typeface="Calibri"/>
              </a:rPr>
              <a:t>Enerji yoğun KOBİ'ler, OSB'ler, ihracatçılar ve danışmanlar · yıllık lisans + kurulum hizmeti · Balıkesir'de pilot</a:t>
            </a:r>
          </a:p>
        </p:txBody>
      </p:sp>
      <p:sp>
        <p:nvSpPr>
          <p:cNvPr id="39" name="Rounded Rectangle 38"/>
          <p:cNvSpPr/>
          <p:nvPr/>
        </p:nvSpPr>
        <p:spPr>
          <a:xfrm>
            <a:off x="12000000" y="20934000"/>
            <a:ext cx="5280000" cy="3024000"/>
          </a:xfrm>
          <a:prstGeom prst="roundRect">
            <a:avLst>
              <a:gd name="adj" fmla="val 8000"/>
            </a:avLst>
          </a:prstGeom>
          <a:solidFill>
            <a:srgbClr val="E7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288000" y="21150000"/>
            <a:ext cx="4704000" cy="540000"/>
          </a:xfrm>
          <a:prstGeom prst="rect">
            <a:avLst/>
          </a:prstGeom>
          <a:noFill/>
        </p:spPr>
        <p:txBody>
          <a:bodyPr wrap="square" anchor="t" lIns="0" rIns="0" tIns="0" bIns="0">
            <a:spAutoFit/>
          </a:bodyPr>
          <a:lstStyle/>
          <a:p>
            <a:pPr algn="l">
              <a:spcAft>
                <a:spcPts val="600"/>
              </a:spcAft>
            </a:pPr>
            <a:r>
              <a:rPr sz="2800" b="1" i="0">
                <a:solidFill>
                  <a:srgbClr val="16785C"/>
                </a:solidFill>
                <a:latin typeface="Calibri"/>
              </a:rPr>
              <a:t>Sınırlılık</a:t>
            </a:r>
          </a:p>
        </p:txBody>
      </p:sp>
      <p:sp>
        <p:nvSpPr>
          <p:cNvPr id="41" name="TextBox 40"/>
          <p:cNvSpPr txBox="1"/>
          <p:nvPr/>
        </p:nvSpPr>
        <p:spPr>
          <a:xfrm>
            <a:off x="12288000" y="21761999"/>
            <a:ext cx="4704000" cy="2088000"/>
          </a:xfrm>
          <a:prstGeom prst="rect">
            <a:avLst/>
          </a:prstGeom>
          <a:noFill/>
        </p:spPr>
        <p:txBody>
          <a:bodyPr wrap="square" anchor="t" lIns="0" rIns="0" tIns="0" bIns="0">
            <a:spAutoFit/>
          </a:bodyPr>
          <a:lstStyle/>
          <a:p>
            <a:pPr algn="l">
              <a:spcAft>
                <a:spcPts val="600"/>
              </a:spcAft>
            </a:pPr>
            <a:r>
              <a:rPr sz="2000" b="0" i="0">
                <a:solidFill>
                  <a:srgbClr val="1D2733"/>
                </a:solidFill>
                <a:latin typeface="Calibri"/>
              </a:rPr>
              <a:t>Ortalama karbon yoğunluğu (gösterge niteliğinde) · örnek yük · marjinal faktör ve saha doğrulaması yol haritasında</a:t>
            </a:r>
          </a:p>
        </p:txBody>
      </p:sp>
      <p:sp>
        <p:nvSpPr>
          <p:cNvPr id="42" name="TextBox 41"/>
          <p:cNvSpPr txBox="1"/>
          <p:nvPr/>
        </p:nvSpPr>
        <p:spPr>
          <a:xfrm>
            <a:off x="720000" y="24552000"/>
            <a:ext cx="16560000" cy="432000"/>
          </a:xfrm>
          <a:prstGeom prst="rect">
            <a:avLst/>
          </a:prstGeom>
          <a:noFill/>
        </p:spPr>
        <p:txBody>
          <a:bodyPr wrap="square" anchor="t" lIns="0" rIns="0" tIns="0" bIns="0">
            <a:spAutoFit/>
          </a:bodyPr>
          <a:lstStyle/>
          <a:p>
            <a:pPr algn="ctr">
              <a:spcAft>
                <a:spcPts val="600"/>
              </a:spcAft>
            </a:pPr>
            <a:r>
              <a:rPr sz="1600" b="0" i="0">
                <a:solidFill>
                  <a:srgbClr val="5B6776"/>
                </a:solidFill>
                <a:latin typeface="Calibri"/>
              </a:rPr>
              <a:t>Kaynak: EPİAŞ Şeffaflık Platformu 2025 · ETKB 2023 Emisyon Faktörleri · Zenodo imalat yük verisi   ·   İletişim: ismailaliaslan11@gmail.com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