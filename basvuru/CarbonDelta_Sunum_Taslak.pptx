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>
                <a:solidFill>
                  <a:srgbClr val="1D2733"/>
                </a:solidFill>
              </a:rPr>
              <a:t>2025 yıllık emisyon azalması (kaydırılan yükte)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Yıllık azalma (%)</c:v>
                </c:pt>
              </c:strCache>
            </c:strRef>
          </c:tx>
          <c:spPr>
            <a:solidFill>
              <a:srgbClr val="16785C"/>
            </a:solidFill>
          </c:spPr>
          <c:invertIfNegative val="0"/>
          <c:cat>
            <c:strRef>
              <c:f>Sheet1!$A$2:$A$6</c:f>
              <c:strCache>
                <c:ptCount val="5"/>
                <c:pt idx="0">
                  <c:v>Kompresör</c:v>
                </c:pt>
                <c:pt idx="1">
                  <c:v>Otomasyon ve taşıma</c:v>
                </c:pt>
                <c:pt idx="2">
                  <c:v>Karıştırıcı</c:v>
                </c:pt>
                <c:pt idx="3">
                  <c:v>Ana pres</c:v>
                </c:pt>
                <c:pt idx="4">
                  <c:v>Yardımcı tesis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18.72</c:v>
                </c:pt>
                <c:pt idx="1">
                  <c:v>17.47</c:v>
                </c:pt>
                <c:pt idx="2">
                  <c:v>16.04</c:v>
                </c:pt>
                <c:pt idx="3">
                  <c:v>17.24</c:v>
                </c:pt>
                <c:pt idx="4">
                  <c:v>17.78</c:v>
                </c:pt>
              </c:numCache>
            </c:numRef>
          </c:val>
        </c:ser>
        <c:dLbls>
          <c:numFmt formatCode="&quot;%&quot;0.0" sourceLinked="0"/>
          <c:txPr>
            <a:bodyPr/>
            <a:lstStyle/>
            <a:p>
              <a:pPr>
                <a:defRPr sz="1200">
                  <a:solidFill>
                    <a:srgbClr val="1D273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FD6DE"/>
            </a:solidFill>
          </a:ln>
        </c:spPr>
        <c:txPr>
          <a:bodyPr/>
          <a:lstStyle/>
          <a:p>
            <a:pPr>
              <a:defRPr sz="1200">
                <a:solidFill>
                  <a:srgbClr val="1D2733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.0"/>
        </c:scaling>
        <c:delete val="0"/>
        <c:axPos val="b"/>
        <c:majorGridlines>
          <c:spPr>
            <a:ln>
              <a:solidFill>
                <a:srgbClr val="E5E9EE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5B6776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(0:00–0:30) Kendinizi ve ekibi tanıtın. Tek cümle: CarbonDelta, fabrikadaki esnek yüklerin hangi saatte çalıştırılırsa daha az emisyon oluşacağını hesaplayan bir karar destek yazılımı.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(0:30–1:45) Şebekede gece kömürün payı yüksek, akşam yenilenebilir ve doğal gaz payı artıyor. Aynı 1 kWh saate göre %17,7'e kadar farklı karbon taşıyor. Fabrikalarda kompresör, pres, karıştırıcı gibi yükler birkaç saat kaydırılabilir; ama yöneticinin 'ne kadar etki eder?' sorusuna hızlı ve güvenilir cevap verecek aracı yok. Düzenlemeler (ETS, SKDM) bu soruyu her geçen gün daha önemli hale getiriyor.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(1:45–2:45) Dört işlev: senaryo hesabı, en temiz saati bulma, yıllık etki ve Delti. İnternetsiz çalışır, tek dosyayla kurulur. Karar her zaman kullanıcıda; yazılım makineye müdahale etmez.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(2:45–3:45) Her saatin karbon yoğunluğu: kaynak üretimleri × resmî faktör / toplam üretim. Kaydırılan enerjinin standart ve hedef penceredeki emisyonu karşılaştırılır. Formül kilitli; Excel ve testlerle doğrulanıyor. Yapay zekâ yalnızca anlatır, sayı uyduramaz.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(3:45–6:45) Demodan önce: uygulamayı açık bırakın, F11 ile tam ekran yapın. Salonda internet olmayabilir; Delti çevrimdışıysa şablon metin çıkar, hesaplar etkilenmez. Her adımda tek cümle söyleyin, fareyle değil klavyeyle ilerlemek akıcı görünür.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(6:45–7:45) Örnek günde −%15,62, yıl genelinde −%18,72. Beş kaydırılabilir makinenin hepsinde azalma var. Mutlak değerler küçük, çünkü örnek makineler küçük; her 1 MWh kaydırma yaklaşık 86 kg CO2 demek. Günde 1 MWh esnek yükü olan bir tesis için yılda ~25,9 ton (300 iş günü).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(7:45–8:30) Genel karbon muhasebesi yazılımları yıllık toplamı raporlar; CarbonDelta zamanlama kararına odaklanır ve onları tamamlar. Pilot için Balıkesir'deki sanayiyle çalışmak istiyoruz.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(8:30–9:15) Sınırlılıkları jüri sormadan söyleyin; bu güven verir. Özellikle ortalama/marjinal ayrımı: 'Sonuçlarımız karşılaştırma ve önceliklendirme için bir gösterge; marjinal faktör yol haritamızda.'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(9:15–9:30) Tek cümleyle kapatın ve soruları alın. Toplam süre soru-cevap dahil 10 dakika; konuşmayı yaklaşık 7–7,5 dakikada bitirmeyi hedefleyin.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B3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097280"/>
            <a:ext cx="1188720" cy="11887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2514600"/>
            <a:ext cx="8229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6600" b="1" i="0">
                <a:solidFill>
                  <a:srgbClr val="FFFFFF"/>
                </a:solidFill>
                <a:latin typeface="Calibri"/>
              </a:rPr>
              <a:t>Carbon</a:t>
            </a:r>
            <a:r>
              <a:rPr sz="6600" b="1">
                <a:solidFill>
                  <a:srgbClr val="5FE0B0"/>
                </a:solidFill>
                <a:latin typeface="Calibri"/>
              </a:rPr>
              <a:t>Delta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611880"/>
            <a:ext cx="7772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0" i="1">
                <a:solidFill>
                  <a:srgbClr val="FFFFFF"/>
                </a:solidFill>
                <a:latin typeface="Calibri"/>
              </a:rPr>
              <a:t>Aynı iş, daha temiz saat.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C9E6DC"/>
                </a:solidFill>
                <a:latin typeface="Calibri"/>
              </a:rPr>
              <a:t>Endüstriyel yükleri daha düşük karbonlu saatlere kaydırmak için yapay zekâ destekli karar destek yazılımı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394960"/>
            <a:ext cx="7772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İsmail Ali ASLAN · Emin Burak ÖZTÜRK · Danışman: Öğr. Gör. Ali ERFİDAN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FE0B0"/>
                </a:solidFill>
                <a:latin typeface="Calibri"/>
              </a:rPr>
              <a:t>Balıkesir Üniversitesi · Tema: Yeşil Teknolojiler ve Döngüsel Ekonomi</a:t>
            </a:r>
          </a:p>
        </p:txBody>
      </p:sp>
      <p:pic>
        <p:nvPicPr>
          <p:cNvPr id="6" name="Picture 5" descr="01_ana_ekr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914400"/>
            <a:ext cx="4023360" cy="2414016"/>
          </a:xfrm>
          <a:prstGeom prst="rect">
            <a:avLst/>
          </a:prstGeom>
          <a:ln w="9525">
            <a:solidFill>
              <a:srgbClr val="D5DDE4"/>
            </a:solidFill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5B6776"/>
                </a:solidFill>
                <a:latin typeface="Calibri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D2733"/>
                </a:solidFill>
                <a:latin typeface="Calibri"/>
              </a:rPr>
              <a:t>Aynı elektrik, saate göre farklı karbon</a:t>
            </a:r>
          </a:p>
        </p:txBody>
      </p:sp>
      <p:pic>
        <p:nvPicPr>
          <p:cNvPr id="4" name="Picture 3" descr="07_saatlik_prof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6949440" cy="3127248"/>
          </a:xfrm>
          <a:prstGeom prst="rect">
            <a:avLst/>
          </a:prstGeom>
          <a:ln w="9525">
            <a:solidFill>
              <a:srgbClr val="D5DDE4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7955279" y="1463040"/>
            <a:ext cx="38404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 i="0">
                <a:solidFill>
                  <a:srgbClr val="16785C"/>
                </a:solidFill>
                <a:latin typeface="Calibri"/>
              </a:rPr>
              <a:t>%17,7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79" y="2240280"/>
            <a:ext cx="38404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B6776"/>
                </a:solidFill>
                <a:latin typeface="Calibri"/>
              </a:rPr>
              <a:t>2025'te en kirli (05:00) ve en temiz (19:00) saat arasındaki karbon yoğunluğu farkı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79" y="3108960"/>
            <a:ext cx="38404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16785C"/>
                </a:solidFill>
                <a:latin typeface="Calibri"/>
              </a:rPr>
              <a:t>0,488 → 0,402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3886200"/>
            <a:ext cx="38404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B6776"/>
                </a:solidFill>
                <a:latin typeface="Calibri"/>
              </a:rPr>
              <a:t>tCO2/MWh, yıllık ortalama (EPİAŞ üretimi × ETKB faktörleri)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4572000"/>
            <a:ext cx="38404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D2733"/>
                </a:solidFill>
                <a:latin typeface="Calibri"/>
              </a:rPr>
              <a:t>Kurumsal karbon hesabı çoğunlukla yıllık ortalama faktör kullanır; bu saatlik fark görünmez.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120640"/>
            <a:ext cx="69494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6785C"/>
                </a:solidFill>
                <a:latin typeface="Calibri"/>
              </a:rPr>
              <a:t>Neden şimdi?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D2733"/>
                </a:solidFill>
                <a:latin typeface="Calibri"/>
              </a:rPr>
              <a:t>İklim Kanunu (2025) ile Türkiye ETS pilot dönemde · AB SKDM (CBAM) 1 Ocak 2026'dan beri mali yükümlülük içeriyor · İhracatçılar ürün başına emisyonu ölçmek ve azaltmak zorunda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5B6776"/>
                </a:solidFill>
                <a:latin typeface="Calibri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D2733"/>
                </a:solidFill>
                <a:latin typeface="Calibri"/>
              </a:rPr>
              <a:t>CarbonDelta: zamanlama kararını sayıya döker</a:t>
            </a:r>
          </a:p>
        </p:txBody>
      </p:sp>
      <p:pic>
        <p:nvPicPr>
          <p:cNvPr id="4" name="Picture 3" descr="02_senary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25880"/>
            <a:ext cx="6766560" cy="4059936"/>
          </a:xfrm>
          <a:prstGeom prst="rect">
            <a:avLst/>
          </a:prstGeom>
          <a:ln w="9525">
            <a:solidFill>
              <a:srgbClr val="D5DDE4"/>
            </a:solidFill>
          </a:ln>
        </p:spPr>
      </p:pic>
      <p:sp>
        <p:nvSpPr>
          <p:cNvPr id="5" name="Rounded Rectangle 4"/>
          <p:cNvSpPr/>
          <p:nvPr/>
        </p:nvSpPr>
        <p:spPr>
          <a:xfrm>
            <a:off x="7589520" y="1325880"/>
            <a:ext cx="4069080" cy="1115568"/>
          </a:xfrm>
          <a:prstGeom prst="roundRect">
            <a:avLst>
              <a:gd name="adj" fmla="val 8000"/>
            </a:avLst>
          </a:prstGeom>
          <a:solidFill>
            <a:srgbClr val="E7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0" y="1435608"/>
            <a:ext cx="374903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6785C"/>
                </a:solidFill>
                <a:latin typeface="Calibri"/>
              </a:rPr>
              <a:t>Senaryo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D2733"/>
                </a:solidFill>
                <a:latin typeface="Calibri"/>
              </a:rPr>
              <a:t>Makine, gün, standart ve hedef saat seçilir; emisyon değişimi anında hesaplanır.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89520" y="2569464"/>
            <a:ext cx="4069080" cy="1115568"/>
          </a:xfrm>
          <a:prstGeom prst="roundRect">
            <a:avLst>
              <a:gd name="adj" fmla="val 8000"/>
            </a:avLst>
          </a:prstGeom>
          <a:solidFill>
            <a:srgbClr val="E7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0" y="2679192"/>
            <a:ext cx="374903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6785C"/>
                </a:solidFill>
                <a:latin typeface="Calibri"/>
              </a:rPr>
              <a:t>En temiz saat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D2733"/>
                </a:solidFill>
                <a:latin typeface="Calibri"/>
              </a:rPr>
              <a:t>Günün tüm geçerli pencereleri taranır, en temizi önerilir.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0" y="3813048"/>
            <a:ext cx="4069080" cy="1115568"/>
          </a:xfrm>
          <a:prstGeom prst="roundRect">
            <a:avLst>
              <a:gd name="adj" fmla="val 8000"/>
            </a:avLst>
          </a:prstGeom>
          <a:solidFill>
            <a:srgbClr val="E7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0" y="3922776"/>
            <a:ext cx="374903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6785C"/>
                </a:solidFill>
                <a:latin typeface="Calibri"/>
              </a:rPr>
              <a:t>Yıllık etki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D2733"/>
                </a:solidFill>
                <a:latin typeface="Calibri"/>
              </a:rPr>
              <a:t>Aynı kaydırma yılın her gününde: ton CO2 ve aylık kırılım.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9520" y="5056632"/>
            <a:ext cx="4069080" cy="1115568"/>
          </a:xfrm>
          <a:prstGeom prst="roundRect">
            <a:avLst>
              <a:gd name="adj" fmla="val 8000"/>
            </a:avLst>
          </a:prstGeom>
          <a:solidFill>
            <a:srgbClr val="E7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5166360"/>
            <a:ext cx="374903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6785C"/>
                </a:solidFill>
                <a:latin typeface="Calibri"/>
              </a:rPr>
              <a:t>Delti (AI)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D2733"/>
                </a:solidFill>
                <a:latin typeface="Calibri"/>
              </a:rPr>
              <a:t>Sonucu sade Türkçe ile açıklar; her sayı otomatik doğrulanır.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5B6776"/>
                </a:solidFill>
                <a:latin typeface="Calibri"/>
              </a:rP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D2733"/>
                </a:solidFill>
                <a:latin typeface="Calibri"/>
              </a:rPr>
              <a:t>Resmî veri, kilitli formül, doğrulanmış sonuç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2011680" cy="1554480"/>
          </a:xfrm>
          <a:prstGeom prst="roundRect">
            <a:avLst>
              <a:gd name="adj" fmla="val 8000"/>
            </a:avLst>
          </a:prstGeom>
          <a:solidFill>
            <a:srgbClr val="E7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91640"/>
            <a:ext cx="173736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900" b="1" i="0">
                <a:solidFill>
                  <a:srgbClr val="16785C"/>
                </a:solidFill>
                <a:latin typeface="Calibri"/>
              </a:rPr>
              <a:t>EPİAŞ 2025</a:t>
            </a:r>
          </a:p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1D2733"/>
                </a:solidFill>
                <a:latin typeface="Calibri"/>
              </a:rPr>
              <a:t>8.760 saat kaynak bazında üretim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606040" y="2194560"/>
            <a:ext cx="256032" cy="274320"/>
          </a:xfrm>
          <a:prstGeom prst="rightArrow">
            <a:avLst/>
          </a:prstGeom>
          <a:solidFill>
            <a:srgbClr val="5B67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834640" y="1554480"/>
            <a:ext cx="2011680" cy="1554480"/>
          </a:xfrm>
          <a:prstGeom prst="roundRect">
            <a:avLst>
              <a:gd name="adj" fmla="val 8000"/>
            </a:avLst>
          </a:prstGeom>
          <a:solidFill>
            <a:srgbClr val="E7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71800" y="1691640"/>
            <a:ext cx="173736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900" b="1" i="0">
                <a:solidFill>
                  <a:srgbClr val="16785C"/>
                </a:solidFill>
                <a:latin typeface="Calibri"/>
              </a:rPr>
              <a:t>ETKB 2023</a:t>
            </a:r>
          </a:p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1D2733"/>
                </a:solidFill>
                <a:latin typeface="Calibri"/>
              </a:rPr>
              <a:t>15 yakıt emisyon faktörü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892040" y="2194560"/>
            <a:ext cx="256032" cy="274320"/>
          </a:xfrm>
          <a:prstGeom prst="rightArrow">
            <a:avLst/>
          </a:prstGeom>
          <a:solidFill>
            <a:srgbClr val="5B67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120640" y="1554480"/>
            <a:ext cx="2011680" cy="1554480"/>
          </a:xfrm>
          <a:prstGeom prst="roundRect">
            <a:avLst>
              <a:gd name="adj" fmla="val 8000"/>
            </a:avLst>
          </a:prstGeom>
          <a:solidFill>
            <a:srgbClr val="16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57800" y="1691640"/>
            <a:ext cx="173736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Calibri"/>
              </a:rPr>
              <a:t>CI(h)</a:t>
            </a:r>
          </a:p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Her saatin şebeke karbon yoğunluğu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178040" y="2194560"/>
            <a:ext cx="256032" cy="274320"/>
          </a:xfrm>
          <a:prstGeom prst="rightArrow">
            <a:avLst/>
          </a:prstGeom>
          <a:solidFill>
            <a:srgbClr val="5B67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406640" y="1554480"/>
            <a:ext cx="2011680" cy="1554480"/>
          </a:xfrm>
          <a:prstGeom prst="roundRect">
            <a:avLst>
              <a:gd name="adj" fmla="val 8000"/>
            </a:avLst>
          </a:prstGeom>
          <a:solidFill>
            <a:srgbClr val="E7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43800" y="1691640"/>
            <a:ext cx="173736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900" b="1" i="0">
                <a:solidFill>
                  <a:srgbClr val="16785C"/>
                </a:solidFill>
                <a:latin typeface="Calibri"/>
              </a:rPr>
              <a:t>Makine yükü</a:t>
            </a:r>
          </a:p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1D2733"/>
                </a:solidFill>
                <a:latin typeface="Calibri"/>
              </a:rPr>
              <a:t>Saatlik kWh (örnek veya tesis ölçümü)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9464040" y="2194560"/>
            <a:ext cx="256032" cy="274320"/>
          </a:xfrm>
          <a:prstGeom prst="rightArrow">
            <a:avLst/>
          </a:prstGeom>
          <a:solidFill>
            <a:srgbClr val="5B67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692640" y="1554480"/>
            <a:ext cx="2011680" cy="1554480"/>
          </a:xfrm>
          <a:prstGeom prst="roundRect">
            <a:avLst>
              <a:gd name="adj" fmla="val 8000"/>
            </a:avLst>
          </a:prstGeom>
          <a:solidFill>
            <a:srgbClr val="E7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29800" y="1691640"/>
            <a:ext cx="173736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900" b="1" i="0">
                <a:solidFill>
                  <a:srgbClr val="16785C"/>
                </a:solidFill>
                <a:latin typeface="Calibri"/>
              </a:rPr>
              <a:t>B ve S</a:t>
            </a:r>
          </a:p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1D2733"/>
                </a:solidFill>
                <a:latin typeface="Calibri"/>
              </a:rPr>
              <a:t>Standart ve hedef pencere emisyonu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520440"/>
            <a:ext cx="11064240" cy="1234440"/>
          </a:xfrm>
          <a:prstGeom prst="roundRect">
            <a:avLst>
              <a:gd name="adj" fmla="val 8000"/>
            </a:avLst>
          </a:prstGeom>
          <a:noFill/>
          <a:ln w="12700">
            <a:solidFill>
              <a:srgbClr val="CFD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611880"/>
            <a:ext cx="106984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 i="0">
                <a:solidFill>
                  <a:srgbClr val="1D2733"/>
                </a:solidFill>
                <a:latin typeface="Calibri"/>
              </a:rPr>
              <a:t>Eᵢ = p × kWh(s+i)     B = Σ Eᵢ × CI(s+i)     S = Σ Eᵢ × CI(t+i)</a:t>
            </a:r>
          </a:p>
          <a:p>
            <a:pPr algn="ctr">
              <a:spcAft>
                <a:spcPts val="600"/>
              </a:spcAft>
            </a:pPr>
            <a:r>
              <a:rPr sz="1800" b="0" i="0">
                <a:solidFill>
                  <a:srgbClr val="16785C"/>
                </a:solidFill>
                <a:latin typeface="Calibri"/>
              </a:rPr>
              <a:t>Değişim = (S − B) / B × 100     ·     Yıllık değişim = (ΣS − ΣB) / ΣB × 100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983480"/>
            <a:ext cx="11064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6032" indent="-256032">
              <a:spcAft>
                <a:spcPts val="800"/>
              </a:spcAft>
              <a:buChar char="•"/>
            </a:pPr>
            <a:r>
              <a:rPr sz="1500" b="1">
                <a:solidFill>
                  <a:srgbClr val="1D2733"/>
                </a:solidFill>
                <a:latin typeface="Calibri"/>
              </a:rPr>
              <a:t>Tekrarlanabilir:</a:t>
            </a:r>
            <a:r>
              <a:rPr sz="1500">
                <a:solidFill>
                  <a:srgbClr val="1D2733"/>
                </a:solidFill>
                <a:latin typeface="Calibri"/>
              </a:rPr>
              <a:t> Aynı formül masaüstünde, Excel doğrulama dosyasında ve test vektörlerinde birebir aynı sonucu verir; 138 otomatik test.</a:t>
            </a:r>
          </a:p>
          <a:p>
            <a:pPr marL="256032" indent="-256032">
              <a:spcAft>
                <a:spcPts val="800"/>
              </a:spcAft>
              <a:buChar char="•"/>
            </a:pPr>
            <a:r>
              <a:rPr sz="1500" b="1">
                <a:solidFill>
                  <a:srgbClr val="1D2733"/>
                </a:solidFill>
                <a:latin typeface="Calibri"/>
              </a:rPr>
              <a:t>Güvenli yapay zekâ:</a:t>
            </a:r>
            <a:r>
              <a:rPr sz="1500">
                <a:solidFill>
                  <a:srgbClr val="1D2733"/>
                </a:solidFill>
                <a:latin typeface="Calibri"/>
              </a:rPr>
              <a:t> Dil modeli hesap yapmaz; metindeki veride olmayan bir sayı, metni otomatik olarak devre dışı bırakır.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5FE0B0"/>
                </a:solidFill>
                <a:latin typeface="Calibri"/>
              </a:rP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Canlı demo · 3 dakika</a:t>
            </a:r>
          </a:p>
        </p:txBody>
      </p:sp>
      <p:sp>
        <p:nvSpPr>
          <p:cNvPr id="4" name="Oval 3"/>
          <p:cNvSpPr/>
          <p:nvPr/>
        </p:nvSpPr>
        <p:spPr>
          <a:xfrm>
            <a:off x="822960" y="1965960"/>
            <a:ext cx="548640" cy="548640"/>
          </a:xfrm>
          <a:prstGeom prst="ellipse">
            <a:avLst/>
          </a:prstGeom>
          <a:solidFill>
            <a:srgbClr val="5FE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0B3B30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965960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FFFFFF"/>
                </a:solidFill>
                <a:latin typeface="Calibri"/>
              </a:rPr>
              <a:t>Ana ekran → Son senaryo kartı: Kompresör 03:00 → 18:00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2679192"/>
            <a:ext cx="548640" cy="548640"/>
          </a:xfrm>
          <a:prstGeom prst="ellipse">
            <a:avLst/>
          </a:prstGeom>
          <a:solidFill>
            <a:srgbClr val="5FE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679192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0B3B30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2679192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FFFFFF"/>
                </a:solidFill>
                <a:latin typeface="Calibri"/>
              </a:rPr>
              <a:t>Senaryo: hedef saati değiştir, sonucun anında değiştiğini göster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3392424"/>
            <a:ext cx="548640" cy="548640"/>
          </a:xfrm>
          <a:prstGeom prst="ellipse">
            <a:avLst/>
          </a:prstGeom>
          <a:solidFill>
            <a:srgbClr val="5FE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392424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0B3B30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3392424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FFFFFF"/>
                </a:solidFill>
                <a:latin typeface="Calibri"/>
              </a:rPr>
              <a:t>En temiz saat: Ctrl+B ile günün en temiz penceresi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4105656"/>
            <a:ext cx="548640" cy="548640"/>
          </a:xfrm>
          <a:prstGeom prst="ellipse">
            <a:avLst/>
          </a:prstGeom>
          <a:solidFill>
            <a:srgbClr val="5FE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105656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0B3B30"/>
                </a:solidFill>
                <a:latin typeface="Calibr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4105656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FFFFFF"/>
                </a:solidFill>
                <a:latin typeface="Calibri"/>
              </a:rPr>
              <a:t>Yıllık etki: aynı kaydırmanın 2025 toplamı ve aylık grafik</a:t>
            </a:r>
          </a:p>
        </p:txBody>
      </p:sp>
      <p:sp>
        <p:nvSpPr>
          <p:cNvPr id="16" name="Oval 15"/>
          <p:cNvSpPr/>
          <p:nvPr/>
        </p:nvSpPr>
        <p:spPr>
          <a:xfrm>
            <a:off x="822960" y="4818888"/>
            <a:ext cx="548640" cy="548640"/>
          </a:xfrm>
          <a:prstGeom prst="ellipse">
            <a:avLst/>
          </a:prstGeom>
          <a:solidFill>
            <a:srgbClr val="5FE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81888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0B3B30"/>
                </a:solidFill>
                <a:latin typeface="Calibr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481888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FFFFFF"/>
                </a:solidFill>
                <a:latin typeface="Calibri"/>
              </a:rPr>
              <a:t>Delti: “Presi %50 ile 21'e kaydır” yaz → senaryo kurulur</a:t>
            </a:r>
          </a:p>
        </p:txBody>
      </p:sp>
      <p:sp>
        <p:nvSpPr>
          <p:cNvPr id="19" name="Oval 18"/>
          <p:cNvSpPr/>
          <p:nvPr/>
        </p:nvSpPr>
        <p:spPr>
          <a:xfrm>
            <a:off x="822960" y="5532120"/>
            <a:ext cx="548640" cy="548640"/>
          </a:xfrm>
          <a:prstGeom prst="ellipse">
            <a:avLst/>
          </a:prstGeom>
          <a:solidFill>
            <a:srgbClr val="5FE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553212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0B3B30"/>
                </a:solidFill>
                <a:latin typeface="Calibri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5532120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FFFFFF"/>
                </a:solidFill>
                <a:latin typeface="Calibri"/>
              </a:rPr>
              <a:t>Veri: tesisin kendi ölçümünü eklemek (sadece ekranı göster)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62636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FE0B0"/>
                </a:solidFill>
                <a:latin typeface="Calibri"/>
              </a:rPr>
              <a:t>İnternet yoksa da çalışır · F11 tam ekran · Esc ana sayfa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5B6776"/>
                </a:solidFill>
                <a:latin typeface="Calibri"/>
              </a:rP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D2733"/>
                </a:solidFill>
                <a:latin typeface="Calibri"/>
              </a:rPr>
              <a:t>Bulgular: basit bir zamanlama değişikliği, belirgin azalma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3291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 i="0">
                <a:solidFill>
                  <a:srgbClr val="16785C"/>
                </a:solidFill>
                <a:latin typeface="Calibri"/>
              </a:rPr>
              <a:t>−%15,62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48840"/>
            <a:ext cx="32918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B6776"/>
                </a:solidFill>
                <a:latin typeface="Calibri"/>
              </a:rPr>
              <a:t>Örnek gün (15.07.2025), Kompresör 03:00→18:00, kaydırılan enerjinin emisyonu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017520"/>
            <a:ext cx="3291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 i="0">
                <a:solidFill>
                  <a:srgbClr val="16785C"/>
                </a:solidFill>
                <a:latin typeface="Calibri"/>
              </a:rPr>
              <a:t>−%18,72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794760"/>
            <a:ext cx="32918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B6776"/>
                </a:solidFill>
                <a:latin typeface="Calibri"/>
              </a:rPr>
              <a:t>Aynı kaydırma 2025'te verisi olan 206 günde; emisyon her gün düştü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663440"/>
            <a:ext cx="3291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 i="0">
                <a:solidFill>
                  <a:srgbClr val="16785C"/>
                </a:solidFill>
                <a:latin typeface="Calibri"/>
              </a:rPr>
              <a:t>≈86 kg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440680"/>
            <a:ext cx="32918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B6776"/>
                </a:solidFill>
                <a:latin typeface="Calibri"/>
              </a:rPr>
              <a:t>05:00'dan 19:00'a kaydırılan her 1 MWh için daha az CO2 (yıllık ortalama)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4206240" y="1325880"/>
          <a:ext cx="740664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206240" y="5989320"/>
            <a:ext cx="7406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B6776"/>
                </a:solidFill>
                <a:latin typeface="Calibri"/>
              </a:rPr>
              <a:t>Örnek yük (açık veri seti), Balıkesir tesisi değil · Kaynak: EPİAŞ 2025, ETKB 2023, Zenodo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5B6776"/>
                </a:solidFill>
                <a:latin typeface="Calibri"/>
              </a:rPr>
              <a:t>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D2733"/>
                </a:solidFill>
                <a:latin typeface="Calibri"/>
              </a:rPr>
              <a:t>Neden farklı, kimin için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5394960" cy="4846320"/>
          </a:xfrm>
          <a:prstGeom prst="roundRect">
            <a:avLst>
              <a:gd name="adj" fmla="val 8000"/>
            </a:avLst>
          </a:prstGeom>
          <a:solidFill>
            <a:srgbClr val="E7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6785C"/>
                </a:solidFill>
                <a:latin typeface="Calibri"/>
              </a:rPr>
              <a:t>Yenilikçi yönler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49377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6032" indent="-256032">
              <a:spcAft>
                <a:spcPts val="800"/>
              </a:spcAft>
              <a:buChar char="•"/>
            </a:pPr>
            <a:r>
              <a:rPr sz="1600" b="1">
                <a:solidFill>
                  <a:srgbClr val="1D2733"/>
                </a:solidFill>
                <a:latin typeface="Calibri"/>
              </a:rPr>
              <a:t>Saatlik ve makine bazlı:</a:t>
            </a:r>
            <a:r>
              <a:rPr sz="1600">
                <a:solidFill>
                  <a:srgbClr val="1D2733"/>
                </a:solidFill>
                <a:latin typeface="Calibri"/>
              </a:rPr>
              <a:t> yıllık ortalama değil, her saatin gerçek üretim karışımı</a:t>
            </a:r>
          </a:p>
          <a:p>
            <a:pPr marL="256032" indent="-256032">
              <a:spcAft>
                <a:spcPts val="800"/>
              </a:spcAft>
              <a:buChar char="•"/>
            </a:pPr>
            <a:r>
              <a:rPr sz="1600" b="1">
                <a:solidFill>
                  <a:srgbClr val="1D2733"/>
                </a:solidFill>
                <a:latin typeface="Calibri"/>
              </a:rPr>
              <a:t>Doğrulanmış yapay zekâ:</a:t>
            </a:r>
            <a:r>
              <a:rPr sz="1600">
                <a:solidFill>
                  <a:srgbClr val="1D2733"/>
                </a:solidFill>
                <a:latin typeface="Calibri"/>
              </a:rPr>
              <a:t> anlaşılır anlatım, sayı uydurma riski yok</a:t>
            </a:r>
          </a:p>
          <a:p>
            <a:pPr marL="256032" indent="-256032">
              <a:spcAft>
                <a:spcPts val="800"/>
              </a:spcAft>
              <a:buChar char="•"/>
            </a:pPr>
            <a:r>
              <a:rPr sz="1600" b="1">
                <a:solidFill>
                  <a:srgbClr val="1D2733"/>
                </a:solidFill>
                <a:latin typeface="Calibri"/>
              </a:rPr>
              <a:t>Çevrim dışı ve tek dosya kurulum:</a:t>
            </a:r>
            <a:r>
              <a:rPr sz="1600">
                <a:solidFill>
                  <a:srgbClr val="1D2733"/>
                </a:solidFill>
                <a:latin typeface="Calibri"/>
              </a:rPr>
              <a:t> sahada, internetsiz çalışır</a:t>
            </a:r>
          </a:p>
          <a:p>
            <a:pPr marL="256032" indent="-256032">
              <a:spcAft>
                <a:spcPts val="800"/>
              </a:spcAft>
              <a:buChar char="•"/>
            </a:pPr>
            <a:r>
              <a:rPr sz="1600" b="1">
                <a:solidFill>
                  <a:srgbClr val="1D2733"/>
                </a:solidFill>
                <a:latin typeface="Calibri"/>
              </a:rPr>
              <a:t>Kendi verisiyle büyür:</a:t>
            </a:r>
            <a:r>
              <a:rPr sz="1600">
                <a:solidFill>
                  <a:srgbClr val="1D2733"/>
                </a:solidFill>
                <a:latin typeface="Calibri"/>
              </a:rPr>
              <a:t> yeni makine, yıl ve faktörler kod değişmeden eklenir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394960" cy="4846320"/>
          </a:xfrm>
          <a:prstGeom prst="roundRect">
            <a:avLst>
              <a:gd name="adj" fmla="val 8000"/>
            </a:avLst>
          </a:prstGeom>
          <a:noFill/>
          <a:ln w="12700">
            <a:solidFill>
              <a:srgbClr val="CFD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55448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6785C"/>
                </a:solidFill>
                <a:latin typeface="Calibri"/>
              </a:rPr>
              <a:t>Ticarileşme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148840"/>
            <a:ext cx="49377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6032" indent="-256032">
              <a:spcAft>
                <a:spcPts val="800"/>
              </a:spcAft>
              <a:buChar char="•"/>
            </a:pPr>
            <a:r>
              <a:rPr sz="1600" b="1">
                <a:solidFill>
                  <a:srgbClr val="1D2733"/>
                </a:solidFill>
                <a:latin typeface="Calibri"/>
              </a:rPr>
              <a:t>Hedef kitle:</a:t>
            </a:r>
            <a:r>
              <a:rPr sz="1600">
                <a:solidFill>
                  <a:srgbClr val="1D2733"/>
                </a:solidFill>
                <a:latin typeface="Calibri"/>
              </a:rPr>
              <a:t> enerji yoğun KOBİ'ler, OSB üreticileri, AB'ye ihracatçılar, enerji ve sürdürülebilirlik danışmanları</a:t>
            </a:r>
          </a:p>
          <a:p>
            <a:pPr marL="256032" indent="-256032">
              <a:spcAft>
                <a:spcPts val="800"/>
              </a:spcAft>
              <a:buChar char="•"/>
            </a:pPr>
            <a:r>
              <a:rPr sz="1600" b="1">
                <a:solidFill>
                  <a:srgbClr val="1D2733"/>
                </a:solidFill>
                <a:latin typeface="Calibri"/>
              </a:rPr>
              <a:t>İş modeli:</a:t>
            </a:r>
            <a:r>
              <a:rPr sz="1600">
                <a:solidFill>
                  <a:srgbClr val="1D2733"/>
                </a:solidFill>
                <a:latin typeface="Calibri"/>
              </a:rPr>
              <a:t> yıllık lisans + tesis verisi aktarım ve ilk analiz hizmeti + danışman firmalara çoklu tesis lisansı</a:t>
            </a:r>
          </a:p>
          <a:p>
            <a:pPr marL="256032" indent="-256032">
              <a:spcAft>
                <a:spcPts val="800"/>
              </a:spcAft>
              <a:buChar char="•"/>
            </a:pPr>
            <a:r>
              <a:rPr sz="1600" b="1">
                <a:solidFill>
                  <a:srgbClr val="1D2733"/>
                </a:solidFill>
                <a:latin typeface="Calibri"/>
              </a:rPr>
              <a:t>İlk adım:</a:t>
            </a:r>
            <a:r>
              <a:rPr sz="1600">
                <a:solidFill>
                  <a:srgbClr val="1D2733"/>
                </a:solidFill>
                <a:latin typeface="Calibri"/>
              </a:rPr>
              <a:t> Balıkesir'de TTO aracılığıyla 1–2 tesiste pilot uygulama ve saha doğrulaması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5B6776"/>
                </a:solidFill>
                <a:latin typeface="Calibri"/>
              </a:rPr>
              <a:t>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D2733"/>
                </a:solidFill>
                <a:latin typeface="Calibri"/>
              </a:rPr>
              <a:t>Sınırlılıklar ve yol haritası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6032" indent="-256032">
              <a:spcAft>
                <a:spcPts val="800"/>
              </a:spcAft>
              <a:buChar char="•"/>
            </a:pPr>
            <a:r>
              <a:rPr sz="1600" b="1">
                <a:solidFill>
                  <a:srgbClr val="1D2733"/>
                </a:solidFill>
                <a:latin typeface="Calibri"/>
              </a:rPr>
              <a:t>Ortalama yoğunluk:</a:t>
            </a:r>
            <a:r>
              <a:rPr sz="1600">
                <a:solidFill>
                  <a:srgbClr val="1D2733"/>
                </a:solidFill>
                <a:latin typeface="Calibri"/>
              </a:rPr>
              <a:t> gerçek etki o saatteki marjinal santrale bağlıdır; sonuçlar gösterge niteliğindedir</a:t>
            </a:r>
          </a:p>
          <a:p>
            <a:pPr marL="256032" indent="-256032">
              <a:spcAft>
                <a:spcPts val="800"/>
              </a:spcAft>
              <a:buChar char="•"/>
            </a:pPr>
            <a:r>
              <a:rPr sz="1600" b="1">
                <a:solidFill>
                  <a:srgbClr val="1D2733"/>
                </a:solidFill>
                <a:latin typeface="Calibri"/>
              </a:rPr>
              <a:t>Örnek yük:</a:t>
            </a:r>
            <a:r>
              <a:rPr sz="1600">
                <a:solidFill>
                  <a:srgbClr val="1D2733"/>
                </a:solidFill>
                <a:latin typeface="Calibri"/>
              </a:rPr>
              <a:t> makine verisi açık veri setinden; saha ölçümüyle doğrulanacak</a:t>
            </a:r>
          </a:p>
          <a:p>
            <a:pPr marL="256032" indent="-256032">
              <a:spcAft>
                <a:spcPts val="800"/>
              </a:spcAft>
              <a:buChar char="•"/>
            </a:pPr>
            <a:r>
              <a:rPr sz="1600" b="1">
                <a:solidFill>
                  <a:srgbClr val="1D2733"/>
                </a:solidFill>
                <a:latin typeface="Calibri"/>
              </a:rPr>
              <a:t>Kapsam:</a:t>
            </a:r>
            <a:r>
              <a:rPr sz="1600">
                <a:solidFill>
                  <a:srgbClr val="1D2733"/>
                </a:solidFill>
                <a:latin typeface="Calibri"/>
              </a:rPr>
              <a:t> ETKB 2023 faktörleri 2025 üretimine uygulanır; ithalat/ihracat hesapta yok</a:t>
            </a:r>
          </a:p>
          <a:p>
            <a:pPr marL="256032" indent="-256032">
              <a:spcAft>
                <a:spcPts val="800"/>
              </a:spcAft>
              <a:buChar char="•"/>
            </a:pPr>
            <a:r>
              <a:rPr sz="1600" b="1">
                <a:solidFill>
                  <a:srgbClr val="1D2733"/>
                </a:solidFill>
                <a:latin typeface="Calibri"/>
              </a:rPr>
              <a:t>Varsayım:</a:t>
            </a:r>
            <a:r>
              <a:rPr sz="1600">
                <a:solidFill>
                  <a:srgbClr val="1D2733"/>
                </a:solidFill>
                <a:latin typeface="Calibri"/>
              </a:rPr>
              <a:t> kaydırılan enerji aynı kalır, yük aynı gün içinde taşınır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394960" cy="1051560"/>
          </a:xfrm>
          <a:prstGeom prst="roundRect">
            <a:avLst>
              <a:gd name="adj" fmla="val 8000"/>
            </a:avLst>
          </a:prstGeom>
          <a:solidFill>
            <a:srgbClr val="16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46520" y="1371600"/>
            <a:ext cx="128016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Şimdi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1371600"/>
            <a:ext cx="365760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Masaüstü uygulama, yıllık etki, veri ekleme, Delti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560320"/>
            <a:ext cx="5394960" cy="1051560"/>
          </a:xfrm>
          <a:prstGeom prst="roundRect">
            <a:avLst>
              <a:gd name="adj" fmla="val 8000"/>
            </a:avLst>
          </a:prstGeom>
          <a:solidFill>
            <a:srgbClr val="E7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2560320"/>
            <a:ext cx="128016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6785C"/>
                </a:solidFill>
                <a:latin typeface="Calibri"/>
              </a:rPr>
              <a:t>0–6 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2560320"/>
            <a:ext cx="365760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D2733"/>
                </a:solidFill>
                <a:latin typeface="Calibri"/>
              </a:rPr>
              <a:t>Balıkesir pilotu, tesis ölçümüyle doğrulama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749040"/>
            <a:ext cx="5394960" cy="1051560"/>
          </a:xfrm>
          <a:prstGeom prst="roundRect">
            <a:avLst>
              <a:gd name="adj" fmla="val 8000"/>
            </a:avLst>
          </a:prstGeom>
          <a:solidFill>
            <a:srgbClr val="E7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3749040"/>
            <a:ext cx="128016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6785C"/>
                </a:solidFill>
                <a:latin typeface="Calibri"/>
              </a:rPr>
              <a:t>6–12 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3749040"/>
            <a:ext cx="365760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D2733"/>
                </a:solidFill>
                <a:latin typeface="Calibri"/>
              </a:rPr>
              <a:t>Marjinal faktör, maliyet etkisi, çoklu makine planı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4937760"/>
            <a:ext cx="5394960" cy="1051560"/>
          </a:xfrm>
          <a:prstGeom prst="roundRect">
            <a:avLst>
              <a:gd name="adj" fmla="val 8000"/>
            </a:avLst>
          </a:prstGeom>
          <a:solidFill>
            <a:srgbClr val="E7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4937760"/>
            <a:ext cx="128016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6785C"/>
                </a:solidFill>
                <a:latin typeface="Calibri"/>
              </a:rPr>
              <a:t>12+ 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4937760"/>
            <a:ext cx="365760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D2733"/>
                </a:solidFill>
                <a:latin typeface="Calibri"/>
              </a:rPr>
              <a:t>Otomatik EPİAŞ güncellemesi, mobil, enerji izleme entegrasyonu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5FE0B0"/>
                </a:solidFill>
                <a:latin typeface="Calibri"/>
              </a:rPr>
              <a:t>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Yatırım yok, ekipman yok:</a:t>
            </a:r>
          </a:p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5FE0B0"/>
                </a:solidFill>
                <a:latin typeface="Calibri"/>
              </a:rPr>
              <a:t>sadece daha temiz bir saat.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56616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C9E6DC"/>
                </a:solidFill>
                <a:latin typeface="Calibri"/>
              </a:rPr>
              <a:t>CarbonDelta, şebekenin saatlik karbon farkını sanayicinin uygulayabileceği bir karara dönüştürür: dijital araçlarla yeşil dönüşüm.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02920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İsmail Ali ASLAN · ismailaliaslan11@gmail.com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Emin Burak ÖZTÜRK · eminburak1410@gmail.com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FE0B0"/>
                </a:solidFill>
                <a:latin typeface="Calibri"/>
              </a:rPr>
              <a:t>Danışman: Öğr. Gör. Ali ERFİDAN · ali.erfidan@balikesir.edu.tr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